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Quattrocento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g1shE9YAuwlOdH9B23u3nBLFFn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QuattrocentoSans-bold.fntdata"/><Relationship Id="rId10" Type="http://schemas.openxmlformats.org/officeDocument/2006/relationships/slide" Target="slides/slide6.xml"/><Relationship Id="rId32" Type="http://schemas.openxmlformats.org/officeDocument/2006/relationships/font" Target="fonts/QuattrocentoSans-regular.fntdata"/><Relationship Id="rId13" Type="http://schemas.openxmlformats.org/officeDocument/2006/relationships/slide" Target="slides/slide9.xml"/><Relationship Id="rId35" Type="http://schemas.openxmlformats.org/officeDocument/2006/relationships/font" Target="fonts/QuattrocentoSans-boldItalic.fntdata"/><Relationship Id="rId12" Type="http://schemas.openxmlformats.org/officeDocument/2006/relationships/slide" Target="slides/slide8.xml"/><Relationship Id="rId34" Type="http://schemas.openxmlformats.org/officeDocument/2006/relationships/font" Target="fonts/QuattrocentoSans-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29"/>
          <p:cNvGrpSpPr/>
          <p:nvPr/>
        </p:nvGrpSpPr>
        <p:grpSpPr>
          <a:xfrm>
            <a:off x="0" y="-8467"/>
            <a:ext cx="12192000" cy="6866467"/>
            <a:chOff x="0" y="-8467"/>
            <a:chExt cx="12192000" cy="6866467"/>
          </a:xfrm>
        </p:grpSpPr>
        <p:cxnSp>
          <p:nvCxnSpPr>
            <p:cNvPr id="24" name="Google Shape;24;p29"/>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5" name="Google Shape;25;p29"/>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26" name="Google Shape;26;p29"/>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27" name="Google Shape;27;p29"/>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29"/>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9"/>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0" name="Google Shape;30;p29"/>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1" name="Google Shape;31;p29"/>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2" name="Google Shape;32;p29"/>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9"/>
            <p:cNvSpPr/>
            <p:nvPr/>
          </p:nvSpPr>
          <p:spPr>
            <a:xfrm rot="10800000">
              <a:off x="0" y="0"/>
              <a:ext cx="842596" cy="5666154"/>
            </a:xfrm>
            <a:prstGeom prst="triangle">
              <a:avLst>
                <a:gd fmla="val 10000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9"/>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9"/>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2" name="Google Shape;42;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p:cSld name="2_Contents slide layout">
    <p:spTree>
      <p:nvGrpSpPr>
        <p:cNvPr id="45" name="Shape 4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32"/>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49" name="Google Shape;49;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 name="Shape 52"/>
        <p:cNvGrpSpPr/>
        <p:nvPr/>
      </p:nvGrpSpPr>
      <p:grpSpPr>
        <a:xfrm>
          <a:off x="0" y="0"/>
          <a:ext cx="0" cy="0"/>
          <a:chOff x="0" y="0"/>
          <a:chExt cx="0" cy="0"/>
        </a:xfrm>
      </p:grpSpPr>
      <p:sp>
        <p:nvSpPr>
          <p:cNvPr id="53" name="Google Shape;53;p3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3"/>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5" name="Google Shape;55;p33"/>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6" name="Google Shape;56;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4"/>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2" name="Google Shape;62;p34"/>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34"/>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4" name="Google Shape;64;p34"/>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3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3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3" name="Shape 73"/>
        <p:cNvGrpSpPr/>
        <p:nvPr/>
      </p:nvGrpSpPr>
      <p:grpSpPr>
        <a:xfrm>
          <a:off x="0" y="0"/>
          <a:ext cx="0" cy="0"/>
          <a:chOff x="0" y="0"/>
          <a:chExt cx="0" cy="0"/>
        </a:xfrm>
      </p:grpSpPr>
      <p:sp>
        <p:nvSpPr>
          <p:cNvPr id="74" name="Google Shape;74;p3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37"/>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0" name="Google Shape;80;p37"/>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1" name="Google Shape;81;p3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4" name="Shape 84"/>
        <p:cNvGrpSpPr/>
        <p:nvPr/>
      </p:nvGrpSpPr>
      <p:grpSpPr>
        <a:xfrm>
          <a:off x="0" y="0"/>
          <a:ext cx="0" cy="0"/>
          <a:chOff x="0" y="0"/>
          <a:chExt cx="0" cy="0"/>
        </a:xfrm>
      </p:grpSpPr>
      <p:sp>
        <p:nvSpPr>
          <p:cNvPr id="85" name="Google Shape;85;p38"/>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8"/>
          <p:cNvSpPr/>
          <p:nvPr>
            <p:ph idx="2" type="pic"/>
          </p:nvPr>
        </p:nvSpPr>
        <p:spPr>
          <a:xfrm>
            <a:off x="677334" y="609600"/>
            <a:ext cx="8596668" cy="3845718"/>
          </a:xfrm>
          <a:prstGeom prst="rect">
            <a:avLst/>
          </a:prstGeom>
          <a:noFill/>
          <a:ln>
            <a:noFill/>
          </a:ln>
        </p:spPr>
      </p:sp>
      <p:sp>
        <p:nvSpPr>
          <p:cNvPr id="87" name="Google Shape;87;p38"/>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8" name="Google Shape;88;p3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1" name="Shape 91"/>
        <p:cNvGrpSpPr/>
        <p:nvPr/>
      </p:nvGrpSpPr>
      <p:grpSpPr>
        <a:xfrm>
          <a:off x="0" y="0"/>
          <a:ext cx="0" cy="0"/>
          <a:chOff x="0" y="0"/>
          <a:chExt cx="0" cy="0"/>
        </a:xfrm>
      </p:grpSpPr>
      <p:sp>
        <p:nvSpPr>
          <p:cNvPr id="92" name="Google Shape;92;p39"/>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9"/>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4" name="Google Shape;94;p3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7" name="Shape 97"/>
        <p:cNvGrpSpPr/>
        <p:nvPr/>
      </p:nvGrpSpPr>
      <p:grpSpPr>
        <a:xfrm>
          <a:off x="0" y="0"/>
          <a:ext cx="0" cy="0"/>
          <a:chOff x="0" y="0"/>
          <a:chExt cx="0" cy="0"/>
        </a:xfrm>
      </p:grpSpPr>
      <p:sp>
        <p:nvSpPr>
          <p:cNvPr id="98" name="Google Shape;98;p4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0"/>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0" name="Google Shape;100;p40"/>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1" name="Google Shape;101;p4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4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b="0" i="0" sz="8000" u="none" cap="none" strike="noStrike">
              <a:solidFill>
                <a:srgbClr val="BFE471"/>
              </a:solidFill>
              <a:latin typeface="Arial"/>
              <a:ea typeface="Arial"/>
              <a:cs typeface="Arial"/>
              <a:sym typeface="Arial"/>
            </a:endParaRPr>
          </a:p>
        </p:txBody>
      </p:sp>
      <p:sp>
        <p:nvSpPr>
          <p:cNvPr id="105" name="Google Shape;105;p4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b="0" i="0" sz="1800" u="none" cap="none" strike="noStrike">
              <a:solidFill>
                <a:srgbClr val="BFE47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6" name="Shape 106"/>
        <p:cNvGrpSpPr/>
        <p:nvPr/>
      </p:nvGrpSpPr>
      <p:grpSpPr>
        <a:xfrm>
          <a:off x="0" y="0"/>
          <a:ext cx="0" cy="0"/>
          <a:chOff x="0" y="0"/>
          <a:chExt cx="0" cy="0"/>
        </a:xfrm>
      </p:grpSpPr>
      <p:sp>
        <p:nvSpPr>
          <p:cNvPr id="107" name="Google Shape;107;p41"/>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1"/>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9" name="Google Shape;109;p4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4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4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2" name="Shape 112"/>
        <p:cNvGrpSpPr/>
        <p:nvPr/>
      </p:nvGrpSpPr>
      <p:grpSpPr>
        <a:xfrm>
          <a:off x="0" y="0"/>
          <a:ext cx="0" cy="0"/>
          <a:chOff x="0" y="0"/>
          <a:chExt cx="0" cy="0"/>
        </a:xfrm>
      </p:grpSpPr>
      <p:sp>
        <p:nvSpPr>
          <p:cNvPr id="113" name="Google Shape;113;p4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2"/>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5" name="Google Shape;115;p42"/>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6" name="Google Shape;116;p4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4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b="0" i="0" sz="8000" u="none" cap="none" strike="noStrike">
              <a:solidFill>
                <a:srgbClr val="BFE471"/>
              </a:solidFill>
              <a:latin typeface="Arial"/>
              <a:ea typeface="Arial"/>
              <a:cs typeface="Arial"/>
              <a:sym typeface="Arial"/>
            </a:endParaRPr>
          </a:p>
        </p:txBody>
      </p:sp>
      <p:sp>
        <p:nvSpPr>
          <p:cNvPr id="120" name="Google Shape;120;p4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b="0" i="0" sz="8000" u="none" cap="none" strike="noStrike">
              <a:solidFill>
                <a:srgbClr val="BFE47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1" name="Shape 121"/>
        <p:cNvGrpSpPr/>
        <p:nvPr/>
      </p:nvGrpSpPr>
      <p:grpSpPr>
        <a:xfrm>
          <a:off x="0" y="0"/>
          <a:ext cx="0" cy="0"/>
          <a:chOff x="0" y="0"/>
          <a:chExt cx="0" cy="0"/>
        </a:xfrm>
      </p:grpSpPr>
      <p:sp>
        <p:nvSpPr>
          <p:cNvPr id="122" name="Google Shape;122;p43"/>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3"/>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4" name="Google Shape;124;p43"/>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5" name="Google Shape;125;p4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4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4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4"/>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1" name="Google Shape;131;p4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4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4" name="Shape 134"/>
        <p:cNvGrpSpPr/>
        <p:nvPr/>
      </p:nvGrpSpPr>
      <p:grpSpPr>
        <a:xfrm>
          <a:off x="0" y="0"/>
          <a:ext cx="0" cy="0"/>
          <a:chOff x="0" y="0"/>
          <a:chExt cx="0" cy="0"/>
        </a:xfrm>
      </p:grpSpPr>
      <p:sp>
        <p:nvSpPr>
          <p:cNvPr id="135" name="Google Shape;135;p45"/>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45"/>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7" name="Google Shape;137;p4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4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4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28"/>
          <p:cNvGrpSpPr/>
          <p:nvPr/>
        </p:nvGrpSpPr>
        <p:grpSpPr>
          <a:xfrm>
            <a:off x="0" y="-8467"/>
            <a:ext cx="12192000" cy="6866467"/>
            <a:chOff x="0" y="-8467"/>
            <a:chExt cx="12192000" cy="6866467"/>
          </a:xfrm>
        </p:grpSpPr>
        <p:cxnSp>
          <p:nvCxnSpPr>
            <p:cNvPr id="7" name="Google Shape;7;p28"/>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8" name="Google Shape;8;p28"/>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9" name="Google Shape;9;p2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0" name="Google Shape;10;p2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28"/>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3" name="Google Shape;13;p2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4" name="Google Shape;14;p2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5" name="Google Shape;15;p28"/>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8"/>
            <p:cNvSpPr/>
            <p:nvPr/>
          </p:nvSpPr>
          <p:spPr>
            <a:xfrm>
              <a:off x="0" y="4013200"/>
              <a:ext cx="448733" cy="2844800"/>
            </a:xfrm>
            <a:prstGeom prst="triangle">
              <a:avLst>
                <a:gd fmla="val 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2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2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9" name="Google Shape;19;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097280" y="1"/>
            <a:ext cx="8366209" cy="2721166"/>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486112"/>
              </a:buClr>
              <a:buSzPts val="5400"/>
              <a:buFont typeface="Trebuchet MS"/>
              <a:buNone/>
            </a:pPr>
            <a:r>
              <a:rPr b="1" lang="en-US">
                <a:solidFill>
                  <a:srgbClr val="486112"/>
                </a:solidFill>
              </a:rPr>
              <a:t>Online job portal</a:t>
            </a:r>
            <a:br>
              <a:rPr b="1" lang="en-US">
                <a:solidFill>
                  <a:schemeClr val="dk1"/>
                </a:solidFill>
              </a:rPr>
            </a:br>
            <a:br>
              <a:rPr b="1" lang="en-US"/>
            </a:br>
            <a:endParaRPr/>
          </a:p>
        </p:txBody>
      </p:sp>
      <p:pic>
        <p:nvPicPr>
          <p:cNvPr descr="Vector talent search. hr specialist searching for an applicant using laptop, human resources manager," id="145" name="Google Shape;145;p1"/>
          <p:cNvPicPr preferRelativeResize="0"/>
          <p:nvPr/>
        </p:nvPicPr>
        <p:blipFill rotWithShape="1">
          <a:blip r:embed="rId3">
            <a:alphaModFix/>
          </a:blip>
          <a:srcRect b="0" l="0" r="0" t="0"/>
          <a:stretch/>
        </p:blipFill>
        <p:spPr>
          <a:xfrm>
            <a:off x="2034753" y="929049"/>
            <a:ext cx="7061812" cy="4502191"/>
          </a:xfrm>
          <a:prstGeom prst="rect">
            <a:avLst/>
          </a:prstGeom>
          <a:noFill/>
          <a:ln>
            <a:noFill/>
          </a:ln>
        </p:spPr>
      </p:pic>
      <p:sp>
        <p:nvSpPr>
          <p:cNvPr id="146" name="Google Shape;146;p1"/>
          <p:cNvSpPr txBox="1"/>
          <p:nvPr>
            <p:ph idx="1" type="subTitle"/>
          </p:nvPr>
        </p:nvSpPr>
        <p:spPr>
          <a:xfrm>
            <a:off x="98425" y="5431239"/>
            <a:ext cx="12093575" cy="1255999"/>
          </a:xfrm>
          <a:prstGeom prst="rect">
            <a:avLst/>
          </a:prstGeom>
          <a:solidFill>
            <a:schemeClr val="accent3"/>
          </a:solidFill>
          <a:ln cap="rnd" cmpd="sng" w="19050">
            <a:solidFill>
              <a:srgbClr val="A78715"/>
            </a:solidFill>
            <a:prstDash val="solid"/>
            <a:round/>
            <a:headEnd len="sm" w="sm" type="none"/>
            <a:tailEnd len="sm" w="sm" type="none"/>
          </a:ln>
        </p:spPr>
        <p:txBody>
          <a:bodyPr anchorCtr="0" anchor="ctr" bIns="45700" lIns="91425" spcFirstLastPara="1" rIns="91425" wrap="square" tIns="45700">
            <a:normAutofit lnSpcReduction="10000"/>
          </a:bodyPr>
          <a:lstStyle/>
          <a:p>
            <a:pPr indent="0" lvl="0" marL="0" rtl="0" algn="ctr">
              <a:spcBef>
                <a:spcPts val="0"/>
              </a:spcBef>
              <a:spcAft>
                <a:spcPts val="0"/>
              </a:spcAft>
              <a:buSzPts val="1920"/>
              <a:buNone/>
            </a:pPr>
            <a:r>
              <a:rPr lang="en-US" sz="2400">
                <a:solidFill>
                  <a:schemeClr val="lt1"/>
                </a:solidFill>
                <a:latin typeface="Cambria"/>
                <a:ea typeface="Cambria"/>
                <a:cs typeface="Cambria"/>
                <a:sym typeface="Cambria"/>
              </a:rPr>
              <a:t>Presented By</a:t>
            </a:r>
            <a:endParaRPr sz="2400">
              <a:solidFill>
                <a:schemeClr val="lt1"/>
              </a:solidFill>
              <a:latin typeface="Cambria"/>
              <a:ea typeface="Cambria"/>
              <a:cs typeface="Cambria"/>
              <a:sym typeface="Cambria"/>
            </a:endParaRPr>
          </a:p>
          <a:p>
            <a:pPr indent="0" lvl="0" marL="0" rtl="0" algn="ctr">
              <a:spcBef>
                <a:spcPts val="1000"/>
              </a:spcBef>
              <a:spcAft>
                <a:spcPts val="0"/>
              </a:spcAft>
              <a:buSzPts val="640"/>
              <a:buNone/>
            </a:pPr>
            <a:r>
              <a:t/>
            </a:r>
            <a:endParaRPr sz="800">
              <a:solidFill>
                <a:schemeClr val="lt1"/>
              </a:solidFill>
              <a:latin typeface="Cambria"/>
              <a:ea typeface="Cambria"/>
              <a:cs typeface="Cambria"/>
              <a:sym typeface="Cambria"/>
            </a:endParaRPr>
          </a:p>
          <a:p>
            <a:pPr indent="0" lvl="0" marL="0" rtl="0" algn="ctr">
              <a:spcBef>
                <a:spcPts val="1000"/>
              </a:spcBef>
              <a:spcAft>
                <a:spcPts val="0"/>
              </a:spcAft>
              <a:buSzPts val="2240"/>
              <a:buNone/>
            </a:pPr>
            <a:r>
              <a:t/>
            </a:r>
            <a:endParaRPr sz="2800">
              <a:solidFill>
                <a:schemeClr val="lt1"/>
              </a:solidFill>
              <a:latin typeface="Cambria"/>
              <a:ea typeface="Cambria"/>
              <a:cs typeface="Cambria"/>
              <a:sym typeface="Cambr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500"/>
                                        <p:tgtEl>
                                          <p:spTgt spid="1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title"/>
          </p:nvPr>
        </p:nvSpPr>
        <p:spPr>
          <a:xfrm>
            <a:off x="646111" y="452718"/>
            <a:ext cx="9404723" cy="99508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600"/>
              <a:buFont typeface="Trebuchet MS"/>
              <a:buNone/>
            </a:pPr>
            <a:r>
              <a:rPr b="1" lang="en-US">
                <a:solidFill>
                  <a:schemeClr val="dk1"/>
                </a:solidFill>
              </a:rPr>
              <a:t>Index</a:t>
            </a:r>
            <a:endParaRPr b="1">
              <a:solidFill>
                <a:schemeClr val="dk1"/>
              </a:solidFill>
            </a:endParaRPr>
          </a:p>
        </p:txBody>
      </p:sp>
      <p:sp>
        <p:nvSpPr>
          <p:cNvPr id="152" name="Google Shape;152;p2"/>
          <p:cNvSpPr txBox="1"/>
          <p:nvPr>
            <p:ph idx="1" type="body"/>
          </p:nvPr>
        </p:nvSpPr>
        <p:spPr>
          <a:xfrm>
            <a:off x="1103312" y="1346201"/>
            <a:ext cx="8946541" cy="3962400"/>
          </a:xfrm>
          <a:prstGeom prst="rect">
            <a:avLst/>
          </a:prstGeom>
          <a:noFill/>
          <a:ln>
            <a:noFill/>
          </a:ln>
        </p:spPr>
        <p:txBody>
          <a:bodyPr anchorCtr="0" anchor="t" bIns="45700" lIns="91425" spcFirstLastPara="1" rIns="91425" wrap="square" tIns="45700">
            <a:normAutofit lnSpcReduction="10000"/>
          </a:bodyPr>
          <a:lstStyle/>
          <a:p>
            <a:pPr indent="-285750" lvl="0" marL="285750" rtl="0" algn="l">
              <a:lnSpc>
                <a:spcPct val="150000"/>
              </a:lnSpc>
              <a:spcBef>
                <a:spcPts val="0"/>
              </a:spcBef>
              <a:spcAft>
                <a:spcPts val="0"/>
              </a:spcAft>
              <a:buSzPts val="1920"/>
              <a:buFont typeface="Arial"/>
              <a:buChar char="•"/>
            </a:pPr>
            <a:r>
              <a:rPr b="1" lang="en-US" sz="2400"/>
              <a:t>Introduction</a:t>
            </a:r>
            <a:endParaRPr b="1" sz="2400"/>
          </a:p>
          <a:p>
            <a:pPr indent="-285750" lvl="0" marL="285750" rtl="0" algn="l">
              <a:lnSpc>
                <a:spcPct val="150000"/>
              </a:lnSpc>
              <a:spcBef>
                <a:spcPts val="1000"/>
              </a:spcBef>
              <a:spcAft>
                <a:spcPts val="0"/>
              </a:spcAft>
              <a:buSzPts val="1920"/>
              <a:buFont typeface="Arial"/>
              <a:buChar char="•"/>
            </a:pPr>
            <a:r>
              <a:rPr b="1" lang="en-US" sz="2400"/>
              <a:t>Architecture</a:t>
            </a:r>
            <a:endParaRPr b="1" sz="2400"/>
          </a:p>
          <a:p>
            <a:pPr indent="-285750" lvl="0" marL="285750" rtl="0" algn="l">
              <a:lnSpc>
                <a:spcPct val="150000"/>
              </a:lnSpc>
              <a:spcBef>
                <a:spcPts val="1000"/>
              </a:spcBef>
              <a:spcAft>
                <a:spcPts val="0"/>
              </a:spcAft>
              <a:buSzPts val="1920"/>
              <a:buFont typeface="Arial"/>
              <a:buChar char="•"/>
            </a:pPr>
            <a:r>
              <a:rPr b="1" lang="en-US" sz="2400"/>
              <a:t>Technology platform used for project</a:t>
            </a:r>
            <a:endParaRPr b="1" sz="2400"/>
          </a:p>
          <a:p>
            <a:pPr indent="-285750" lvl="0" marL="285750" rtl="0" algn="l">
              <a:lnSpc>
                <a:spcPct val="150000"/>
              </a:lnSpc>
              <a:spcBef>
                <a:spcPts val="1000"/>
              </a:spcBef>
              <a:spcAft>
                <a:spcPts val="0"/>
              </a:spcAft>
              <a:buSzPts val="1920"/>
              <a:buFont typeface="Arial"/>
              <a:buChar char="•"/>
            </a:pPr>
            <a:r>
              <a:rPr b="1" lang="en-US" sz="2400"/>
              <a:t>User roles and responsibilities</a:t>
            </a:r>
            <a:endParaRPr b="1" sz="2400"/>
          </a:p>
          <a:p>
            <a:pPr indent="-285750" lvl="0" marL="285750" rtl="0" algn="l">
              <a:lnSpc>
                <a:spcPct val="150000"/>
              </a:lnSpc>
              <a:spcBef>
                <a:spcPts val="1000"/>
              </a:spcBef>
              <a:spcAft>
                <a:spcPts val="0"/>
              </a:spcAft>
              <a:buSzPts val="1920"/>
              <a:buFont typeface="Arial"/>
              <a:buChar char="•"/>
            </a:pPr>
            <a:r>
              <a:rPr b="1" lang="en-US" sz="2400"/>
              <a:t>Future extensions or scope</a:t>
            </a:r>
            <a:endParaRPr b="1" sz="2400"/>
          </a:p>
          <a:p>
            <a:pPr indent="-285750" lvl="0" marL="285750" rtl="0" algn="l">
              <a:lnSpc>
                <a:spcPct val="150000"/>
              </a:lnSpc>
              <a:spcBef>
                <a:spcPts val="1000"/>
              </a:spcBef>
              <a:spcAft>
                <a:spcPts val="0"/>
              </a:spcAft>
              <a:buSzPts val="1920"/>
              <a:buFont typeface="Arial"/>
              <a:buChar char="•"/>
            </a:pPr>
            <a:r>
              <a:rPr b="1" lang="en-US" sz="2400"/>
              <a:t>Conclusion</a:t>
            </a:r>
            <a:endParaRPr b="1" sz="2400"/>
          </a:p>
          <a:p>
            <a:pPr indent="-251459" lvl="0" marL="342900" rtl="0" algn="l">
              <a:spcBef>
                <a:spcPts val="1000"/>
              </a:spcBef>
              <a:spcAft>
                <a:spcPts val="0"/>
              </a:spcAft>
              <a:buSzPts val="1440"/>
              <a:buNone/>
            </a:pPr>
            <a:r>
              <a:t/>
            </a:r>
            <a:endParaRPr/>
          </a:p>
        </p:txBody>
      </p:sp>
      <p:pic>
        <p:nvPicPr>
          <p:cNvPr descr="Woman with briefcase is looking for a job, applicant fills out resume, employer is interviewing. Set of job search, resume, job interview. Vector illustration in flat design Woman with briefcase is looking for a job, applicant fills out resume, employer is interviewing. Set of job search, resume, job interview. Vector illustration in flat design job search background stock illustrations" id="153" name="Google Shape;153;p2"/>
          <p:cNvPicPr preferRelativeResize="0"/>
          <p:nvPr/>
        </p:nvPicPr>
        <p:blipFill rotWithShape="1">
          <a:blip r:embed="rId3">
            <a:alphaModFix/>
          </a:blip>
          <a:srcRect b="0" l="0" r="0" t="0"/>
          <a:stretch/>
        </p:blipFill>
        <p:spPr>
          <a:xfrm>
            <a:off x="485775" y="5003800"/>
            <a:ext cx="5829300" cy="1854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6C911C"/>
              </a:buClr>
              <a:buSzPts val="4000"/>
              <a:buFont typeface="Trebuchet MS"/>
              <a:buNone/>
            </a:pPr>
            <a:r>
              <a:rPr lang="en-US" sz="4000" u="sng">
                <a:solidFill>
                  <a:srgbClr val="6C911C"/>
                </a:solidFill>
              </a:rPr>
              <a:t>Introduction</a:t>
            </a:r>
            <a:endParaRPr sz="4000" u="sng">
              <a:solidFill>
                <a:srgbClr val="6C911C"/>
              </a:solidFill>
            </a:endParaRPr>
          </a:p>
        </p:txBody>
      </p:sp>
      <p:sp>
        <p:nvSpPr>
          <p:cNvPr id="159" name="Google Shape;159;p3"/>
          <p:cNvSpPr txBox="1"/>
          <p:nvPr>
            <p:ph idx="1" type="body"/>
          </p:nvPr>
        </p:nvSpPr>
        <p:spPr>
          <a:xfrm>
            <a:off x="1193800" y="1714499"/>
            <a:ext cx="8080202" cy="43268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latin typeface="Calibri"/>
                <a:ea typeface="Calibri"/>
                <a:cs typeface="Calibri"/>
                <a:sym typeface="Calibri"/>
              </a:rPr>
              <a:t>Purpose :- </a:t>
            </a:r>
            <a:endParaRPr sz="2400">
              <a:latin typeface="Calibri"/>
              <a:ea typeface="Calibri"/>
              <a:cs typeface="Calibri"/>
              <a:sym typeface="Calibri"/>
            </a:endParaRPr>
          </a:p>
          <a:p>
            <a:pPr indent="-342900" lvl="0" marL="342900" rtl="0" algn="l">
              <a:lnSpc>
                <a:spcPct val="150000"/>
              </a:lnSpc>
              <a:spcBef>
                <a:spcPts val="1000"/>
              </a:spcBef>
              <a:spcAft>
                <a:spcPts val="0"/>
              </a:spcAft>
              <a:buSzPts val="1600"/>
              <a:buChar char="►"/>
            </a:pPr>
            <a:r>
              <a:rPr lang="en-US" sz="2000"/>
              <a:t>Our project, the "Online Job Portal," aims to make job hunting and hiring simpler. We're creating a user-friendly platform where job seekers easily find and apply for jobs. Employers also benefit by effortlessly posting job openings. This web application minimizes manual work, making job searching and recruitment smoother for everyone involved.</a:t>
            </a:r>
            <a:endParaRPr sz="2000"/>
          </a:p>
        </p:txBody>
      </p:sp>
      <p:pic>
        <p:nvPicPr>
          <p:cNvPr descr="Web search concept. Tiny characters using laptop for searching info in web browser. Search Bar. Web search concept. Tiny characters using laptop for searching info in web browser. Search Bar. Vector illustration. job search background stock illustrations" id="160" name="Google Shape;160;p3"/>
          <p:cNvPicPr preferRelativeResize="0"/>
          <p:nvPr/>
        </p:nvPicPr>
        <p:blipFill rotWithShape="1">
          <a:blip r:embed="rId3">
            <a:alphaModFix/>
          </a:blip>
          <a:srcRect b="0" l="0" r="0" t="0"/>
          <a:stretch/>
        </p:blipFill>
        <p:spPr>
          <a:xfrm>
            <a:off x="482600" y="4915044"/>
            <a:ext cx="2959100" cy="194295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u="sng"/>
              <a:t>Architecture</a:t>
            </a:r>
            <a:r>
              <a:rPr lang="en-US" sz="4000" u="sng"/>
              <a:t> :-</a:t>
            </a:r>
            <a:endParaRPr/>
          </a:p>
        </p:txBody>
      </p:sp>
      <p:sp>
        <p:nvSpPr>
          <p:cNvPr id="166" name="Google Shape;166;p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SzPts val="2240"/>
              <a:buChar char="►"/>
            </a:pPr>
            <a:r>
              <a:rPr lang="en-US" sz="2800"/>
              <a:t>Front End :- </a:t>
            </a:r>
            <a:r>
              <a:rPr lang="en-US" sz="2800">
                <a:solidFill>
                  <a:srgbClr val="B0B0B0"/>
                </a:solidFill>
              </a:rPr>
              <a:t>React JS (Version 18) , Bootstrap </a:t>
            </a:r>
            <a:endParaRPr sz="2800">
              <a:solidFill>
                <a:srgbClr val="B0B0B0"/>
              </a:solidFill>
            </a:endParaRPr>
          </a:p>
          <a:p>
            <a:pPr indent="-342900" lvl="0" marL="342900" rtl="0" algn="l">
              <a:lnSpc>
                <a:spcPct val="150000"/>
              </a:lnSpc>
              <a:spcBef>
                <a:spcPts val="1000"/>
              </a:spcBef>
              <a:spcAft>
                <a:spcPts val="0"/>
              </a:spcAft>
              <a:buSzPts val="2240"/>
              <a:buChar char="►"/>
            </a:pPr>
            <a:r>
              <a:rPr lang="en-US" sz="2800"/>
              <a:t>Back End :- </a:t>
            </a:r>
            <a:r>
              <a:rPr lang="en-US" sz="2800">
                <a:solidFill>
                  <a:srgbClr val="B0B0B0"/>
                </a:solidFill>
              </a:rPr>
              <a:t>Java 11, Spring Boot REST API, JPA</a:t>
            </a:r>
            <a:endParaRPr sz="2800">
              <a:solidFill>
                <a:srgbClr val="B0B0B0"/>
              </a:solidFill>
            </a:endParaRPr>
          </a:p>
          <a:p>
            <a:pPr indent="-342900" lvl="0" marL="342900" rtl="0" algn="l">
              <a:lnSpc>
                <a:spcPct val="150000"/>
              </a:lnSpc>
              <a:spcBef>
                <a:spcPts val="1000"/>
              </a:spcBef>
              <a:spcAft>
                <a:spcPts val="0"/>
              </a:spcAft>
              <a:buSzPts val="2240"/>
              <a:buChar char="►"/>
            </a:pPr>
            <a:r>
              <a:rPr lang="en-US" sz="2800"/>
              <a:t>Database :- </a:t>
            </a:r>
            <a:r>
              <a:rPr lang="en-US" sz="2800">
                <a:solidFill>
                  <a:srgbClr val="B0B0B0"/>
                </a:solidFill>
              </a:rPr>
              <a:t>MySQL 8.0. 34</a:t>
            </a:r>
            <a:endParaRPr sz="2800">
              <a:solidFill>
                <a:srgbClr val="B0B0B0"/>
              </a:solidFill>
            </a:endParaRPr>
          </a:p>
          <a:p>
            <a:pPr indent="-251459" lvl="0" marL="342900" rtl="0" algn="l">
              <a:spcBef>
                <a:spcPts val="1000"/>
              </a:spcBef>
              <a:spcAft>
                <a:spcPts val="0"/>
              </a:spcAft>
              <a:buSzPts val="1440"/>
              <a:buNone/>
            </a:pPr>
            <a:r>
              <a:t/>
            </a:r>
            <a:endParaRPr/>
          </a:p>
        </p:txBody>
      </p:sp>
      <p:pic>
        <p:nvPicPr>
          <p:cNvPr descr="Hr agency. Applicants queue for consideration, people group of resume background, candidates consideration. Job hiring talents vacancy in company recruiter search employees vector concept Hr agency. Applicants queue for consideration, people group of resume background, candidates consideration. Job hiring talents, vacancy in company recruiter search employees vector cartoon concept job search background stock illustrations" id="167" name="Google Shape;167;p4"/>
          <p:cNvPicPr preferRelativeResize="0"/>
          <p:nvPr/>
        </p:nvPicPr>
        <p:blipFill rotWithShape="1">
          <a:blip r:embed="rId3">
            <a:alphaModFix/>
          </a:blip>
          <a:srcRect b="0" l="0" r="0" t="0"/>
          <a:stretch/>
        </p:blipFill>
        <p:spPr>
          <a:xfrm>
            <a:off x="495300" y="4359275"/>
            <a:ext cx="5829300" cy="2498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673100" y="609600"/>
            <a:ext cx="8801100" cy="7493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lang="en-US" u="sng"/>
              <a:t>Reason for selecting the specific technology :-</a:t>
            </a:r>
            <a:endParaRPr u="sng"/>
          </a:p>
        </p:txBody>
      </p:sp>
      <p:sp>
        <p:nvSpPr>
          <p:cNvPr id="173" name="Google Shape;173;p5"/>
          <p:cNvSpPr txBox="1"/>
          <p:nvPr>
            <p:ph idx="1" type="body"/>
          </p:nvPr>
        </p:nvSpPr>
        <p:spPr>
          <a:xfrm>
            <a:off x="677862" y="1549401"/>
            <a:ext cx="9418637" cy="4038599"/>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50000"/>
              </a:lnSpc>
              <a:spcBef>
                <a:spcPts val="0"/>
              </a:spcBef>
              <a:spcAft>
                <a:spcPts val="0"/>
              </a:spcAft>
              <a:buSzPct val="80000"/>
              <a:buFont typeface="Arial"/>
              <a:buChar char="•"/>
            </a:pPr>
            <a:r>
              <a:rPr i="0" lang="en-US" sz="2400">
                <a:solidFill>
                  <a:schemeClr val="dk1"/>
                </a:solidFill>
                <a:latin typeface="Calibri"/>
                <a:ea typeface="Calibri"/>
                <a:cs typeface="Calibri"/>
                <a:sym typeface="Calibri"/>
              </a:rPr>
              <a:t>React allows developers to create large web applications that can change data, without reloading the page. The main purpose of React is to be fast, scalable, and simple. It works only on user interfaces in the application. </a:t>
            </a:r>
            <a:endParaRPr sz="2400">
              <a:solidFill>
                <a:schemeClr val="dk1"/>
              </a:solidFill>
              <a:latin typeface="Calibri"/>
              <a:ea typeface="Calibri"/>
              <a:cs typeface="Calibri"/>
              <a:sym typeface="Calibri"/>
            </a:endParaRPr>
          </a:p>
          <a:p>
            <a:pPr indent="-342900" lvl="0" marL="342900" rtl="0" algn="l">
              <a:lnSpc>
                <a:spcPct val="150000"/>
              </a:lnSpc>
              <a:spcBef>
                <a:spcPts val="1000"/>
              </a:spcBef>
              <a:spcAft>
                <a:spcPts val="0"/>
              </a:spcAft>
              <a:buSzPct val="80000"/>
              <a:buFont typeface="Arial"/>
              <a:buChar char="•"/>
            </a:pPr>
            <a:r>
              <a:rPr b="0" i="0" lang="en-US" sz="2400">
                <a:solidFill>
                  <a:schemeClr val="dk1"/>
                </a:solidFill>
                <a:latin typeface="Calibri"/>
                <a:ea typeface="Calibri"/>
                <a:cs typeface="Calibri"/>
                <a:sym typeface="Calibri"/>
              </a:rPr>
              <a:t>Spring Boot provides a flexible way to configure Java Beans, XML configurations, and Database Transactions. It provides a powerful batch processing and manages REST endpoints. In Spring Boot, everything is auto configured; no manual configurations are needed.</a:t>
            </a:r>
            <a:endParaRPr b="0" i="0" sz="2400">
              <a:solidFill>
                <a:schemeClr val="dk1"/>
              </a:solidFill>
              <a:latin typeface="Calibri"/>
              <a:ea typeface="Calibri"/>
              <a:cs typeface="Calibri"/>
              <a:sym typeface="Calibri"/>
            </a:endParaRPr>
          </a:p>
          <a:p>
            <a:pPr indent="-230123" lvl="0" marL="342900" rtl="0" algn="l">
              <a:lnSpc>
                <a:spcPct val="150000"/>
              </a:lnSpc>
              <a:spcBef>
                <a:spcPts val="1000"/>
              </a:spcBef>
              <a:spcAft>
                <a:spcPts val="0"/>
              </a:spcAft>
              <a:buSzPct val="80000"/>
              <a:buNone/>
            </a:pPr>
            <a:r>
              <a:t/>
            </a:r>
            <a:endParaRPr sz="2400">
              <a:latin typeface="Calibri"/>
              <a:ea typeface="Calibri"/>
              <a:cs typeface="Calibri"/>
              <a:sym typeface="Calibri"/>
            </a:endParaRPr>
          </a:p>
          <a:p>
            <a:pPr indent="-258318" lvl="0" marL="342900" rtl="0" algn="l">
              <a:lnSpc>
                <a:spcPct val="150000"/>
              </a:lnSpc>
              <a:spcBef>
                <a:spcPts val="1000"/>
              </a:spcBef>
              <a:spcAft>
                <a:spcPts val="0"/>
              </a:spcAft>
              <a:buSzPct val="79999"/>
              <a:buNone/>
            </a:pPr>
            <a:r>
              <a:t/>
            </a:r>
            <a:endParaRPr/>
          </a:p>
        </p:txBody>
      </p:sp>
      <p:pic>
        <p:nvPicPr>
          <p:cNvPr descr="Spring Boot React.js Full Stack Tutorial By Example – Colin Williams" id="174" name="Google Shape;174;p5"/>
          <p:cNvPicPr preferRelativeResize="0"/>
          <p:nvPr/>
        </p:nvPicPr>
        <p:blipFill rotWithShape="1">
          <a:blip r:embed="rId3">
            <a:alphaModFix/>
          </a:blip>
          <a:srcRect b="0" l="0" r="0" t="0"/>
          <a:stretch/>
        </p:blipFill>
        <p:spPr>
          <a:xfrm>
            <a:off x="673100" y="5457825"/>
            <a:ext cx="3276600" cy="1400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type="title"/>
          </p:nvPr>
        </p:nvSpPr>
        <p:spPr>
          <a:xfrm>
            <a:off x="677334" y="609600"/>
            <a:ext cx="8596668" cy="965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u="sng"/>
              <a:t>User Roles And Responsibilities :-</a:t>
            </a:r>
            <a:endParaRPr/>
          </a:p>
        </p:txBody>
      </p:sp>
      <p:sp>
        <p:nvSpPr>
          <p:cNvPr id="180" name="Google Shape;180;p6"/>
          <p:cNvSpPr txBox="1"/>
          <p:nvPr>
            <p:ph idx="1" type="body"/>
          </p:nvPr>
        </p:nvSpPr>
        <p:spPr>
          <a:xfrm>
            <a:off x="677334" y="2160589"/>
            <a:ext cx="8860366" cy="225901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latin typeface="Quattrocento Sans"/>
                <a:ea typeface="Quattrocento Sans"/>
                <a:cs typeface="Quattrocento Sans"/>
                <a:sym typeface="Quattrocento Sans"/>
              </a:rPr>
              <a:t>Online Job Portal consists of three roles described as below :-</a:t>
            </a:r>
            <a:endParaRPr sz="2400">
              <a:latin typeface="Times New Roman"/>
              <a:ea typeface="Times New Roman"/>
              <a:cs typeface="Times New Roman"/>
              <a:sym typeface="Times New Roman"/>
            </a:endParaRPr>
          </a:p>
          <a:p>
            <a:pPr indent="-342900" lvl="0" marL="342900" rtl="0" algn="l">
              <a:spcBef>
                <a:spcPts val="1000"/>
              </a:spcBef>
              <a:spcAft>
                <a:spcPts val="0"/>
              </a:spcAft>
              <a:buSzPts val="1920"/>
              <a:buFont typeface="Trebuchet MS"/>
              <a:buAutoNum type="arabicPeriod"/>
            </a:pPr>
            <a:r>
              <a:rPr lang="en-US" sz="2400">
                <a:solidFill>
                  <a:schemeClr val="dk1"/>
                </a:solidFill>
                <a:latin typeface="Quattrocento Sans"/>
                <a:ea typeface="Quattrocento Sans"/>
                <a:cs typeface="Quattrocento Sans"/>
                <a:sym typeface="Quattrocento Sans"/>
              </a:rPr>
              <a:t>Admin	</a:t>
            </a:r>
            <a:endParaRPr sz="2400">
              <a:solidFill>
                <a:schemeClr val="dk1"/>
              </a:solidFill>
              <a:latin typeface="Times New Roman"/>
              <a:ea typeface="Times New Roman"/>
              <a:cs typeface="Times New Roman"/>
              <a:sym typeface="Times New Roman"/>
            </a:endParaRPr>
          </a:p>
          <a:p>
            <a:pPr indent="-342900" lvl="0" marL="342900" rtl="0" algn="l">
              <a:spcBef>
                <a:spcPts val="1000"/>
              </a:spcBef>
              <a:spcAft>
                <a:spcPts val="0"/>
              </a:spcAft>
              <a:buSzPts val="1920"/>
              <a:buFont typeface="Trebuchet MS"/>
              <a:buAutoNum type="arabicPeriod"/>
            </a:pPr>
            <a:r>
              <a:rPr lang="en-US" sz="2400">
                <a:solidFill>
                  <a:schemeClr val="dk1"/>
                </a:solidFill>
                <a:latin typeface="Quattrocento Sans"/>
                <a:ea typeface="Quattrocento Sans"/>
                <a:cs typeface="Quattrocento Sans"/>
                <a:sym typeface="Quattrocento Sans"/>
              </a:rPr>
              <a:t>Freelancer</a:t>
            </a:r>
            <a:endParaRPr sz="2400">
              <a:solidFill>
                <a:schemeClr val="dk1"/>
              </a:solidFill>
              <a:latin typeface="Times New Roman"/>
              <a:ea typeface="Times New Roman"/>
              <a:cs typeface="Times New Roman"/>
              <a:sym typeface="Times New Roman"/>
            </a:endParaRPr>
          </a:p>
          <a:p>
            <a:pPr indent="-342900" lvl="0" marL="342900" rtl="0" algn="l">
              <a:spcBef>
                <a:spcPts val="1000"/>
              </a:spcBef>
              <a:spcAft>
                <a:spcPts val="0"/>
              </a:spcAft>
              <a:buSzPts val="1920"/>
              <a:buFont typeface="Trebuchet MS"/>
              <a:buAutoNum type="arabicPeriod"/>
            </a:pPr>
            <a:r>
              <a:rPr lang="en-US" sz="2400">
                <a:solidFill>
                  <a:schemeClr val="dk1"/>
                </a:solidFill>
                <a:latin typeface="Quattrocento Sans"/>
                <a:ea typeface="Quattrocento Sans"/>
                <a:cs typeface="Quattrocento Sans"/>
                <a:sym typeface="Quattrocento Sans"/>
              </a:rPr>
              <a:t>Recruiter</a:t>
            </a:r>
            <a:endParaRPr sz="2400">
              <a:solidFill>
                <a:schemeClr val="dk1"/>
              </a:solidFill>
              <a:latin typeface="Times New Roman"/>
              <a:ea typeface="Times New Roman"/>
              <a:cs typeface="Times New Roman"/>
              <a:sym typeface="Times New Roman"/>
            </a:endParaRPr>
          </a:p>
          <a:p>
            <a:pPr indent="-251459" lvl="0" marL="342900" rtl="0" algn="l">
              <a:spcBef>
                <a:spcPts val="1000"/>
              </a:spcBef>
              <a:spcAft>
                <a:spcPts val="0"/>
              </a:spcAft>
              <a:buSzPts val="1440"/>
              <a:buNone/>
            </a:pPr>
            <a:r>
              <a:t/>
            </a:r>
            <a:endParaRPr/>
          </a:p>
        </p:txBody>
      </p:sp>
      <p:pic>
        <p:nvPicPr>
          <p:cNvPr descr="Vector illustration concept of human resources, career, employment, CV, job search, professional skill. Creative flat design for web banner, marketing material, business presentation, online advertising. job search background stock illustrations" id="181" name="Google Shape;181;p6"/>
          <p:cNvPicPr preferRelativeResize="0"/>
          <p:nvPr/>
        </p:nvPicPr>
        <p:blipFill rotWithShape="1">
          <a:blip r:embed="rId3">
            <a:alphaModFix/>
          </a:blip>
          <a:srcRect b="0" l="0" r="0" t="0"/>
          <a:stretch/>
        </p:blipFill>
        <p:spPr>
          <a:xfrm>
            <a:off x="457200" y="4000501"/>
            <a:ext cx="5829300" cy="2857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pSp>
        <p:nvGrpSpPr>
          <p:cNvPr id="186" name="Google Shape;186;p7"/>
          <p:cNvGrpSpPr/>
          <p:nvPr/>
        </p:nvGrpSpPr>
        <p:grpSpPr>
          <a:xfrm>
            <a:off x="0" y="342692"/>
            <a:ext cx="7601830" cy="1005840"/>
            <a:chOff x="0" y="545888"/>
            <a:chExt cx="7601830" cy="1005840"/>
          </a:xfrm>
        </p:grpSpPr>
        <p:sp>
          <p:nvSpPr>
            <p:cNvPr id="187" name="Google Shape;187;p7"/>
            <p:cNvSpPr/>
            <p:nvPr/>
          </p:nvSpPr>
          <p:spPr>
            <a:xfrm>
              <a:off x="6663477" y="545888"/>
              <a:ext cx="731520" cy="1005840"/>
            </a:xfrm>
            <a:prstGeom prst="chevron">
              <a:avLst>
                <a:gd fmla="val 56731" name="adj"/>
              </a:avLst>
            </a:prstGeom>
            <a:solidFill>
              <a:srgbClr val="F9F1D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sp>
          <p:nvSpPr>
            <p:cNvPr id="188" name="Google Shape;188;p7"/>
            <p:cNvSpPr/>
            <p:nvPr/>
          </p:nvSpPr>
          <p:spPr>
            <a:xfrm>
              <a:off x="0" y="545888"/>
              <a:ext cx="6427177" cy="1005840"/>
            </a:xfrm>
            <a:prstGeom prst="homePlate">
              <a:avLst>
                <a:gd fmla="val 40909"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mbria"/>
                  <a:ea typeface="Cambria"/>
                  <a:cs typeface="Cambria"/>
                  <a:sym typeface="Cambria"/>
                </a:rPr>
                <a:t>User Classes </a:t>
              </a:r>
              <a:endParaRPr b="1" i="0" sz="3200" u="none" cap="none" strike="noStrike">
                <a:solidFill>
                  <a:srgbClr val="FFFFFF"/>
                </a:solidFill>
                <a:latin typeface="Cambria"/>
                <a:ea typeface="Cambria"/>
                <a:cs typeface="Cambria"/>
                <a:sym typeface="Cambria"/>
              </a:endParaRPr>
            </a:p>
          </p:txBody>
        </p:sp>
        <p:sp>
          <p:nvSpPr>
            <p:cNvPr id="189" name="Google Shape;189;p7"/>
            <p:cNvSpPr/>
            <p:nvPr/>
          </p:nvSpPr>
          <p:spPr>
            <a:xfrm>
              <a:off x="7053190" y="545888"/>
              <a:ext cx="548640" cy="1005840"/>
            </a:xfrm>
            <a:prstGeom prst="chevron">
              <a:avLst>
                <a:gd fmla="val 74706"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sp>
          <p:nvSpPr>
            <p:cNvPr id="190" name="Google Shape;190;p7"/>
            <p:cNvSpPr/>
            <p:nvPr/>
          </p:nvSpPr>
          <p:spPr>
            <a:xfrm>
              <a:off x="6083373" y="545888"/>
              <a:ext cx="914400" cy="1005840"/>
            </a:xfrm>
            <a:prstGeom prst="chevron">
              <a:avLst>
                <a:gd fmla="val 45057" name="adj"/>
              </a:avLst>
            </a:prstGeom>
            <a:solidFill>
              <a:srgbClr val="F5E2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grpSp>
      <p:cxnSp>
        <p:nvCxnSpPr>
          <p:cNvPr id="191" name="Google Shape;191;p7"/>
          <p:cNvCxnSpPr/>
          <p:nvPr/>
        </p:nvCxnSpPr>
        <p:spPr>
          <a:xfrm rot="5400000">
            <a:off x="1270317" y="3468591"/>
            <a:ext cx="1632869" cy="22416"/>
          </a:xfrm>
          <a:prstGeom prst="straightConnector1">
            <a:avLst/>
          </a:prstGeom>
          <a:noFill/>
          <a:ln cap="flat" cmpd="sng" w="25400">
            <a:solidFill>
              <a:schemeClr val="accent6"/>
            </a:solidFill>
            <a:prstDash val="solid"/>
            <a:round/>
            <a:headEnd len="sm" w="sm" type="none"/>
            <a:tailEnd len="med" w="med" type="oval"/>
          </a:ln>
        </p:spPr>
      </p:cxnSp>
      <p:sp>
        <p:nvSpPr>
          <p:cNvPr id="192" name="Google Shape;192;p7"/>
          <p:cNvSpPr/>
          <p:nvPr/>
        </p:nvSpPr>
        <p:spPr>
          <a:xfrm>
            <a:off x="885371" y="3251201"/>
            <a:ext cx="2525486" cy="566057"/>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700" u="none" cap="none" strike="noStrike">
                <a:solidFill>
                  <a:schemeClr val="dk1"/>
                </a:solidFill>
                <a:latin typeface="Cambria"/>
                <a:ea typeface="Cambria"/>
                <a:cs typeface="Cambria"/>
                <a:sym typeface="Cambria"/>
              </a:rPr>
              <a:t>Job Seeker </a:t>
            </a:r>
            <a:endParaRPr b="1" i="0" sz="2700" u="none" cap="none" strike="noStrike">
              <a:solidFill>
                <a:schemeClr val="dk1"/>
              </a:solidFill>
              <a:latin typeface="Cambria"/>
              <a:ea typeface="Cambria"/>
              <a:cs typeface="Cambria"/>
              <a:sym typeface="Cambria"/>
            </a:endParaRPr>
          </a:p>
        </p:txBody>
      </p:sp>
      <p:cxnSp>
        <p:nvCxnSpPr>
          <p:cNvPr id="193" name="Google Shape;193;p7"/>
          <p:cNvCxnSpPr/>
          <p:nvPr/>
        </p:nvCxnSpPr>
        <p:spPr>
          <a:xfrm flipH="1" rot="-5400000">
            <a:off x="9427028" y="3432634"/>
            <a:ext cx="1596572" cy="14513"/>
          </a:xfrm>
          <a:prstGeom prst="straightConnector1">
            <a:avLst/>
          </a:prstGeom>
          <a:noFill/>
          <a:ln cap="flat" cmpd="sng" w="25400">
            <a:solidFill>
              <a:schemeClr val="accent1"/>
            </a:solidFill>
            <a:prstDash val="solid"/>
            <a:round/>
            <a:headEnd len="sm" w="sm" type="none"/>
            <a:tailEnd len="med" w="med" type="oval"/>
          </a:ln>
        </p:spPr>
      </p:cxnSp>
      <p:sp>
        <p:nvSpPr>
          <p:cNvPr id="194" name="Google Shape;194;p7"/>
          <p:cNvSpPr/>
          <p:nvPr/>
        </p:nvSpPr>
        <p:spPr>
          <a:xfrm>
            <a:off x="8897255" y="3193144"/>
            <a:ext cx="2569029" cy="580571"/>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700" u="none" cap="none" strike="noStrike">
                <a:solidFill>
                  <a:schemeClr val="dk1"/>
                </a:solidFill>
                <a:latin typeface="Cambria"/>
                <a:ea typeface="Cambria"/>
                <a:cs typeface="Cambria"/>
                <a:sym typeface="Cambria"/>
              </a:rPr>
              <a:t>Admin</a:t>
            </a:r>
            <a:endParaRPr b="1" i="0" sz="2700" u="none" cap="none" strike="noStrike">
              <a:solidFill>
                <a:schemeClr val="dk1"/>
              </a:solidFill>
              <a:latin typeface="Cambria"/>
              <a:ea typeface="Cambria"/>
              <a:cs typeface="Cambria"/>
              <a:sym typeface="Cambria"/>
            </a:endParaRPr>
          </a:p>
        </p:txBody>
      </p:sp>
      <p:cxnSp>
        <p:nvCxnSpPr>
          <p:cNvPr id="195" name="Google Shape;195;p7"/>
          <p:cNvCxnSpPr/>
          <p:nvPr/>
        </p:nvCxnSpPr>
        <p:spPr>
          <a:xfrm rot="5400000">
            <a:off x="5177297" y="3436927"/>
            <a:ext cx="1603842" cy="27693"/>
          </a:xfrm>
          <a:prstGeom prst="straightConnector1">
            <a:avLst/>
          </a:prstGeom>
          <a:noFill/>
          <a:ln cap="flat" cmpd="sng" w="25400">
            <a:solidFill>
              <a:schemeClr val="accent2"/>
            </a:solidFill>
            <a:prstDash val="solid"/>
            <a:round/>
            <a:headEnd len="sm" w="sm" type="none"/>
            <a:tailEnd len="med" w="med" type="oval"/>
          </a:ln>
        </p:spPr>
      </p:cxnSp>
      <p:sp>
        <p:nvSpPr>
          <p:cNvPr id="196" name="Google Shape;196;p7"/>
          <p:cNvSpPr/>
          <p:nvPr/>
        </p:nvSpPr>
        <p:spPr>
          <a:xfrm>
            <a:off x="4586514" y="3264550"/>
            <a:ext cx="2830286" cy="55271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700" u="none" cap="none" strike="noStrike">
                <a:solidFill>
                  <a:schemeClr val="dk1"/>
                </a:solidFill>
                <a:latin typeface="Cambria"/>
                <a:ea typeface="Cambria"/>
                <a:cs typeface="Cambria"/>
                <a:sym typeface="Cambria"/>
              </a:rPr>
              <a:t>Recruiter</a:t>
            </a:r>
            <a:endParaRPr b="1" i="0" sz="2700" u="none" cap="none" strike="noStrike">
              <a:solidFill>
                <a:schemeClr val="dk1"/>
              </a:solidFill>
              <a:latin typeface="Cambria"/>
              <a:ea typeface="Cambria"/>
              <a:cs typeface="Cambria"/>
              <a:sym typeface="Cambria"/>
            </a:endParaRPr>
          </a:p>
        </p:txBody>
      </p:sp>
      <p:sp>
        <p:nvSpPr>
          <p:cNvPr id="197" name="Google Shape;197;p7"/>
          <p:cNvSpPr txBox="1"/>
          <p:nvPr/>
        </p:nvSpPr>
        <p:spPr>
          <a:xfrm>
            <a:off x="348344" y="4505602"/>
            <a:ext cx="3672114"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Cambria"/>
                <a:ea typeface="Cambria"/>
                <a:cs typeface="Cambria"/>
                <a:sym typeface="Cambria"/>
              </a:rPr>
              <a:t>In this module Job Seeker will register, update details or and can apply for the  various jobs and view responses on applied jobs.</a:t>
            </a:r>
            <a:endParaRPr b="1" i="0" sz="2000" u="none" cap="none" strike="noStrike">
              <a:solidFill>
                <a:srgbClr val="3F3F3F"/>
              </a:solidFill>
              <a:latin typeface="Cambria"/>
              <a:ea typeface="Cambria"/>
              <a:cs typeface="Cambria"/>
              <a:sym typeface="Cambria"/>
            </a:endParaRPr>
          </a:p>
        </p:txBody>
      </p:sp>
      <p:sp>
        <p:nvSpPr>
          <p:cNvPr id="198" name="Google Shape;198;p7"/>
          <p:cNvSpPr txBox="1"/>
          <p:nvPr/>
        </p:nvSpPr>
        <p:spPr>
          <a:xfrm>
            <a:off x="4209144" y="4483833"/>
            <a:ext cx="4093028" cy="19389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Cambria"/>
                <a:ea typeface="Cambria"/>
                <a:cs typeface="Cambria"/>
                <a:sym typeface="Cambria"/>
              </a:rPr>
              <a:t>In this module Job Providers can  register and after verification by admin  can add new jobs and  view the list of  applicants applied for that specific job. Also they can accept and reject the applications.</a:t>
            </a:r>
            <a:endParaRPr b="1" i="0" sz="2000" u="none" cap="none" strike="noStrike">
              <a:solidFill>
                <a:srgbClr val="3F3F3F"/>
              </a:solidFill>
              <a:latin typeface="Cambria"/>
              <a:ea typeface="Cambria"/>
              <a:cs typeface="Cambria"/>
              <a:sym typeface="Cambria"/>
            </a:endParaRPr>
          </a:p>
        </p:txBody>
      </p:sp>
      <p:sp>
        <p:nvSpPr>
          <p:cNvPr id="199" name="Google Shape;199;p7"/>
          <p:cNvSpPr txBox="1"/>
          <p:nvPr/>
        </p:nvSpPr>
        <p:spPr>
          <a:xfrm>
            <a:off x="8476343" y="4411262"/>
            <a:ext cx="3367314"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Cambria"/>
                <a:ea typeface="Cambria"/>
                <a:cs typeface="Cambria"/>
                <a:sym typeface="Cambria"/>
              </a:rPr>
              <a:t>In this module Admin can manage job Seekers and Job Providers. Will verify the job providers.</a:t>
            </a:r>
            <a:endParaRPr b="1" i="0" sz="2000" u="none" cap="none" strike="noStrike">
              <a:solidFill>
                <a:srgbClr val="3F3F3F"/>
              </a:solidFill>
              <a:latin typeface="Cambria"/>
              <a:ea typeface="Cambria"/>
              <a:cs typeface="Cambria"/>
              <a:sym typeface="Cambria"/>
            </a:endParaRPr>
          </a:p>
        </p:txBody>
      </p:sp>
      <p:pic>
        <p:nvPicPr>
          <p:cNvPr descr="user png.PNG" id="200" name="Google Shape;200;p7"/>
          <p:cNvPicPr preferRelativeResize="0"/>
          <p:nvPr/>
        </p:nvPicPr>
        <p:blipFill rotWithShape="1">
          <a:blip r:embed="rId3">
            <a:alphaModFix/>
          </a:blip>
          <a:srcRect b="0" l="0" r="0" t="0"/>
          <a:stretch/>
        </p:blipFill>
        <p:spPr>
          <a:xfrm>
            <a:off x="1470585" y="1546785"/>
            <a:ext cx="1267971" cy="1267971"/>
          </a:xfrm>
          <a:prstGeom prst="rect">
            <a:avLst/>
          </a:prstGeom>
          <a:noFill/>
          <a:ln>
            <a:noFill/>
          </a:ln>
        </p:spPr>
      </p:pic>
      <p:pic>
        <p:nvPicPr>
          <p:cNvPr descr="admin.png" id="201" name="Google Shape;201;p7"/>
          <p:cNvPicPr preferRelativeResize="0"/>
          <p:nvPr/>
        </p:nvPicPr>
        <p:blipFill rotWithShape="1">
          <a:blip r:embed="rId4">
            <a:alphaModFix/>
          </a:blip>
          <a:srcRect b="0" l="0" r="0" t="0"/>
          <a:stretch/>
        </p:blipFill>
        <p:spPr>
          <a:xfrm>
            <a:off x="9634096" y="1615857"/>
            <a:ext cx="1164533" cy="1152889"/>
          </a:xfrm>
          <a:prstGeom prst="rect">
            <a:avLst/>
          </a:prstGeom>
          <a:noFill/>
          <a:ln>
            <a:noFill/>
          </a:ln>
        </p:spPr>
      </p:pic>
      <p:pic>
        <p:nvPicPr>
          <p:cNvPr descr="company-icon-300 copy.png" id="202" name="Google Shape;202;p7"/>
          <p:cNvPicPr preferRelativeResize="0"/>
          <p:nvPr/>
        </p:nvPicPr>
        <p:blipFill rotWithShape="1">
          <a:blip r:embed="rId5">
            <a:alphaModFix/>
          </a:blip>
          <a:srcRect b="0" l="0" r="0" t="0"/>
          <a:stretch/>
        </p:blipFill>
        <p:spPr>
          <a:xfrm>
            <a:off x="5512039" y="1701800"/>
            <a:ext cx="939800" cy="939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8"/>
          <p:cNvGrpSpPr/>
          <p:nvPr/>
        </p:nvGrpSpPr>
        <p:grpSpPr>
          <a:xfrm>
            <a:off x="0" y="303362"/>
            <a:ext cx="6843252" cy="856697"/>
            <a:chOff x="0" y="545888"/>
            <a:chExt cx="7601830" cy="1005840"/>
          </a:xfrm>
        </p:grpSpPr>
        <p:sp>
          <p:nvSpPr>
            <p:cNvPr id="208" name="Google Shape;208;p8"/>
            <p:cNvSpPr/>
            <p:nvPr/>
          </p:nvSpPr>
          <p:spPr>
            <a:xfrm>
              <a:off x="6663477" y="545888"/>
              <a:ext cx="731520" cy="1005840"/>
            </a:xfrm>
            <a:prstGeom prst="chevron">
              <a:avLst>
                <a:gd fmla="val 56731"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09" name="Google Shape;209;p8"/>
            <p:cNvSpPr/>
            <p:nvPr/>
          </p:nvSpPr>
          <p:spPr>
            <a:xfrm>
              <a:off x="0" y="545888"/>
              <a:ext cx="6427177" cy="1005840"/>
            </a:xfrm>
            <a:prstGeom prst="homePlate">
              <a:avLst>
                <a:gd fmla="val 40909"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mbria"/>
                  <a:ea typeface="Cambria"/>
                  <a:cs typeface="Cambria"/>
                  <a:sym typeface="Cambria"/>
                </a:rPr>
                <a:t>Jobseeker Module</a:t>
              </a:r>
              <a:endParaRPr b="1" i="0" sz="3200" u="none" cap="none" strike="noStrike">
                <a:solidFill>
                  <a:srgbClr val="FFFFFF"/>
                </a:solidFill>
                <a:latin typeface="Cambria"/>
                <a:ea typeface="Cambria"/>
                <a:cs typeface="Cambria"/>
                <a:sym typeface="Cambria"/>
              </a:endParaRPr>
            </a:p>
          </p:txBody>
        </p:sp>
        <p:sp>
          <p:nvSpPr>
            <p:cNvPr id="210" name="Google Shape;210;p8"/>
            <p:cNvSpPr/>
            <p:nvPr/>
          </p:nvSpPr>
          <p:spPr>
            <a:xfrm>
              <a:off x="7053190" y="545888"/>
              <a:ext cx="548640" cy="1005840"/>
            </a:xfrm>
            <a:prstGeom prst="chevron">
              <a:avLst>
                <a:gd fmla="val 74706"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11" name="Google Shape;211;p8"/>
            <p:cNvSpPr/>
            <p:nvPr/>
          </p:nvSpPr>
          <p:spPr>
            <a:xfrm>
              <a:off x="6083373" y="545888"/>
              <a:ext cx="914400" cy="1005840"/>
            </a:xfrm>
            <a:prstGeom prst="chevron">
              <a:avLst>
                <a:gd fmla="val 45057"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grpSp>
      <p:sp>
        <p:nvSpPr>
          <p:cNvPr id="212" name="Google Shape;212;p8"/>
          <p:cNvSpPr txBox="1"/>
          <p:nvPr/>
        </p:nvSpPr>
        <p:spPr>
          <a:xfrm>
            <a:off x="470018" y="1563469"/>
            <a:ext cx="10762089" cy="462684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After successful registration ,the job seeker can </a:t>
            </a:r>
            <a:endParaRPr b="0" i="0" sz="2000" u="none" cap="none" strike="noStrike">
              <a:solidFill>
                <a:srgbClr val="3F3F3F"/>
              </a:solidFill>
              <a:latin typeface="Trebuchet MS"/>
              <a:ea typeface="Trebuchet MS"/>
              <a:cs typeface="Trebuchet MS"/>
              <a:sym typeface="Trebuchet MS"/>
            </a:endParaRPr>
          </a:p>
          <a:p>
            <a:pPr indent="-241300" lvl="0" marL="342900" marR="0" rtl="0" algn="l">
              <a:lnSpc>
                <a:spcPct val="150000"/>
              </a:lnSpc>
              <a:spcBef>
                <a:spcPts val="1000"/>
              </a:spcBef>
              <a:spcAft>
                <a:spcPts val="0"/>
              </a:spcAft>
              <a:buClr>
                <a:schemeClr val="accent1"/>
              </a:buClr>
              <a:buSzPts val="1600"/>
              <a:buFont typeface="Noto Sans Symbols"/>
              <a:buNone/>
            </a:pPr>
            <a:r>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Search for the jobs in various fields depending upon the availability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of  jobs.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Can edit his/her profile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Delete account and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Check the response of any job he/she has applied for earlier in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status option.  </a:t>
            </a:r>
            <a:endParaRPr b="0" i="0" sz="2000" u="none" cap="none" strike="noStrike">
              <a:solidFill>
                <a:srgbClr val="3F3F3F"/>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grpSp>
        <p:nvGrpSpPr>
          <p:cNvPr id="217" name="Google Shape;217;p9"/>
          <p:cNvGrpSpPr/>
          <p:nvPr/>
        </p:nvGrpSpPr>
        <p:grpSpPr>
          <a:xfrm>
            <a:off x="0" y="139792"/>
            <a:ext cx="8461829" cy="963294"/>
            <a:chOff x="0" y="545888"/>
            <a:chExt cx="7601830" cy="1005840"/>
          </a:xfrm>
        </p:grpSpPr>
        <p:sp>
          <p:nvSpPr>
            <p:cNvPr id="218" name="Google Shape;218;p9"/>
            <p:cNvSpPr/>
            <p:nvPr/>
          </p:nvSpPr>
          <p:spPr>
            <a:xfrm>
              <a:off x="6663477" y="545888"/>
              <a:ext cx="731520" cy="1005840"/>
            </a:xfrm>
            <a:prstGeom prst="chevron">
              <a:avLst>
                <a:gd fmla="val 56731"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19" name="Google Shape;219;p9"/>
            <p:cNvSpPr/>
            <p:nvPr/>
          </p:nvSpPr>
          <p:spPr>
            <a:xfrm>
              <a:off x="0" y="545888"/>
              <a:ext cx="6427177" cy="1005840"/>
            </a:xfrm>
            <a:prstGeom prst="homePlate">
              <a:avLst>
                <a:gd fmla="val 40909"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mbria"/>
                  <a:ea typeface="Cambria"/>
                  <a:cs typeface="Cambria"/>
                  <a:sym typeface="Cambria"/>
                </a:rPr>
                <a:t>Use Case diagram for Job Seekers</a:t>
              </a:r>
              <a:endParaRPr b="1" i="0" sz="3200" u="none" cap="none" strike="noStrike">
                <a:solidFill>
                  <a:srgbClr val="FFFFFF"/>
                </a:solidFill>
                <a:latin typeface="Cambria"/>
                <a:ea typeface="Cambria"/>
                <a:cs typeface="Cambria"/>
                <a:sym typeface="Cambria"/>
              </a:endParaRPr>
            </a:p>
          </p:txBody>
        </p:sp>
        <p:sp>
          <p:nvSpPr>
            <p:cNvPr id="220" name="Google Shape;220;p9"/>
            <p:cNvSpPr/>
            <p:nvPr/>
          </p:nvSpPr>
          <p:spPr>
            <a:xfrm>
              <a:off x="7053190" y="545888"/>
              <a:ext cx="548640" cy="1005840"/>
            </a:xfrm>
            <a:prstGeom prst="chevron">
              <a:avLst>
                <a:gd fmla="val 74706"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21" name="Google Shape;221;p9"/>
            <p:cNvSpPr/>
            <p:nvPr/>
          </p:nvSpPr>
          <p:spPr>
            <a:xfrm>
              <a:off x="6083373" y="545888"/>
              <a:ext cx="914400" cy="1005840"/>
            </a:xfrm>
            <a:prstGeom prst="chevron">
              <a:avLst>
                <a:gd fmla="val 45057"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grpSp>
      <p:pic>
        <p:nvPicPr>
          <p:cNvPr id="222" name="Google Shape;222;p9"/>
          <p:cNvPicPr preferRelativeResize="0"/>
          <p:nvPr/>
        </p:nvPicPr>
        <p:blipFill rotWithShape="1">
          <a:blip r:embed="rId3">
            <a:alphaModFix/>
          </a:blip>
          <a:srcRect b="9514" l="28741" r="28567" t="13618"/>
          <a:stretch/>
        </p:blipFill>
        <p:spPr>
          <a:xfrm>
            <a:off x="3398293" y="1166883"/>
            <a:ext cx="5554638" cy="56228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pSp>
        <p:nvGrpSpPr>
          <p:cNvPr id="227" name="Google Shape;227;p10"/>
          <p:cNvGrpSpPr/>
          <p:nvPr/>
        </p:nvGrpSpPr>
        <p:grpSpPr>
          <a:xfrm>
            <a:off x="0" y="303363"/>
            <a:ext cx="6843252" cy="485248"/>
            <a:chOff x="0" y="545888"/>
            <a:chExt cx="7601830" cy="1005840"/>
          </a:xfrm>
        </p:grpSpPr>
        <p:sp>
          <p:nvSpPr>
            <p:cNvPr id="228" name="Google Shape;228;p10"/>
            <p:cNvSpPr/>
            <p:nvPr/>
          </p:nvSpPr>
          <p:spPr>
            <a:xfrm>
              <a:off x="6663477" y="545888"/>
              <a:ext cx="731520" cy="1005840"/>
            </a:xfrm>
            <a:prstGeom prst="chevron">
              <a:avLst>
                <a:gd fmla="val 56731"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29" name="Google Shape;229;p10"/>
            <p:cNvSpPr/>
            <p:nvPr/>
          </p:nvSpPr>
          <p:spPr>
            <a:xfrm>
              <a:off x="0" y="545888"/>
              <a:ext cx="6427177" cy="1005840"/>
            </a:xfrm>
            <a:prstGeom prst="homePlate">
              <a:avLst>
                <a:gd fmla="val 40909"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mbria"/>
                  <a:ea typeface="Cambria"/>
                  <a:cs typeface="Cambria"/>
                  <a:sym typeface="Cambria"/>
                </a:rPr>
                <a:t>Job Provider Module</a:t>
              </a:r>
              <a:endParaRPr b="1" i="0" sz="3200" u="none" cap="none" strike="noStrike">
                <a:solidFill>
                  <a:srgbClr val="FFFFFF"/>
                </a:solidFill>
                <a:latin typeface="Cambria"/>
                <a:ea typeface="Cambria"/>
                <a:cs typeface="Cambria"/>
                <a:sym typeface="Cambria"/>
              </a:endParaRPr>
            </a:p>
          </p:txBody>
        </p:sp>
        <p:sp>
          <p:nvSpPr>
            <p:cNvPr id="230" name="Google Shape;230;p10"/>
            <p:cNvSpPr/>
            <p:nvPr/>
          </p:nvSpPr>
          <p:spPr>
            <a:xfrm>
              <a:off x="7053190" y="545888"/>
              <a:ext cx="548640" cy="1005840"/>
            </a:xfrm>
            <a:prstGeom prst="chevron">
              <a:avLst>
                <a:gd fmla="val 74706"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31" name="Google Shape;231;p10"/>
            <p:cNvSpPr/>
            <p:nvPr/>
          </p:nvSpPr>
          <p:spPr>
            <a:xfrm>
              <a:off x="6083373" y="545888"/>
              <a:ext cx="914400" cy="1005840"/>
            </a:xfrm>
            <a:prstGeom prst="chevron">
              <a:avLst>
                <a:gd fmla="val 45057"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grpSp>
      <p:sp>
        <p:nvSpPr>
          <p:cNvPr id="232" name="Google Shape;232;p10"/>
          <p:cNvSpPr txBox="1"/>
          <p:nvPr/>
        </p:nvSpPr>
        <p:spPr>
          <a:xfrm>
            <a:off x="374484" y="1536174"/>
            <a:ext cx="11248103" cy="344703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After successful registration and authentication from Admin , the job provider can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Upload new jobs for the in various fields. Apart from this,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The job provider can edit his/her profile ,</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Can Delete their account</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Check the applicant who has applied For different jobs</a:t>
            </a:r>
            <a:endParaRPr b="0" i="0" sz="2000" u="none" cap="none" strike="noStrike">
              <a:solidFill>
                <a:srgbClr val="3F3F3F"/>
              </a:solidFill>
              <a:latin typeface="Trebuchet MS"/>
              <a:ea typeface="Trebuchet MS"/>
              <a:cs typeface="Trebuchet MS"/>
              <a:sym typeface="Trebuchet MS"/>
            </a:endParaRPr>
          </a:p>
          <a:p>
            <a:pPr indent="-342900" lvl="0" marL="342900" marR="0" rtl="0" algn="l">
              <a:lnSpc>
                <a:spcPct val="150000"/>
              </a:lnSpc>
              <a:spcBef>
                <a:spcPts val="1000"/>
              </a:spcBef>
              <a:spcAft>
                <a:spcPts val="0"/>
              </a:spcAft>
              <a:buClr>
                <a:schemeClr val="accent1"/>
              </a:buClr>
              <a:buSzPts val="1600"/>
              <a:buFont typeface="Noto Sans Symbols"/>
              <a:buChar char="►"/>
            </a:pPr>
            <a:r>
              <a:rPr b="0" i="0" lang="en-US" sz="2000" u="none" cap="none" strike="noStrike">
                <a:solidFill>
                  <a:srgbClr val="3F3F3F"/>
                </a:solidFill>
                <a:latin typeface="Trebuchet MS"/>
                <a:ea typeface="Trebuchet MS"/>
                <a:cs typeface="Trebuchet MS"/>
                <a:sym typeface="Trebuchet MS"/>
              </a:rPr>
              <a:t>  Shortlist them by sending the message . </a:t>
            </a:r>
            <a:endParaRPr b="0" i="0" sz="2000" u="none" cap="none" strike="noStrike">
              <a:solidFill>
                <a:srgbClr val="3F3F3F"/>
              </a:solidFill>
              <a:latin typeface="Trebuchet MS"/>
              <a:ea typeface="Trebuchet MS"/>
              <a:cs typeface="Trebuchet MS"/>
              <a:sym typeface="Trebuchet MS"/>
            </a:endParaRPr>
          </a:p>
        </p:txBody>
      </p:sp>
      <p:pic>
        <p:nvPicPr>
          <p:cNvPr descr="Human resources concept vector illustration Job interview. Employee hiring. HR management. Employment service. Candidates seeker. Human resources, HR team work, headhunter service concept. Vector isolated concept creative illustration job search background stock illustrations" id="233" name="Google Shape;233;p10"/>
          <p:cNvPicPr preferRelativeResize="0"/>
          <p:nvPr/>
        </p:nvPicPr>
        <p:blipFill rotWithShape="1">
          <a:blip r:embed="rId3">
            <a:alphaModFix/>
          </a:blip>
          <a:srcRect b="0" l="0" r="0" t="0"/>
          <a:stretch/>
        </p:blipFill>
        <p:spPr>
          <a:xfrm>
            <a:off x="486081" y="5122843"/>
            <a:ext cx="3479991" cy="173515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pSp>
        <p:nvGrpSpPr>
          <p:cNvPr id="238" name="Google Shape;238;p11"/>
          <p:cNvGrpSpPr/>
          <p:nvPr/>
        </p:nvGrpSpPr>
        <p:grpSpPr>
          <a:xfrm>
            <a:off x="0" y="139792"/>
            <a:ext cx="8461829" cy="963294"/>
            <a:chOff x="0" y="545888"/>
            <a:chExt cx="7601830" cy="1005840"/>
          </a:xfrm>
        </p:grpSpPr>
        <p:sp>
          <p:nvSpPr>
            <p:cNvPr id="239" name="Google Shape;239;p11"/>
            <p:cNvSpPr/>
            <p:nvPr/>
          </p:nvSpPr>
          <p:spPr>
            <a:xfrm>
              <a:off x="6663477" y="545888"/>
              <a:ext cx="731520" cy="1005840"/>
            </a:xfrm>
            <a:prstGeom prst="chevron">
              <a:avLst>
                <a:gd fmla="val 56731"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000000"/>
                </a:solidFill>
                <a:latin typeface="Calibri"/>
                <a:ea typeface="Calibri"/>
                <a:cs typeface="Calibri"/>
                <a:sym typeface="Calibri"/>
              </a:endParaRPr>
            </a:p>
          </p:txBody>
        </p:sp>
        <p:sp>
          <p:nvSpPr>
            <p:cNvPr id="240" name="Google Shape;240;p11"/>
            <p:cNvSpPr/>
            <p:nvPr/>
          </p:nvSpPr>
          <p:spPr>
            <a:xfrm>
              <a:off x="0" y="545888"/>
              <a:ext cx="6427177" cy="1005840"/>
            </a:xfrm>
            <a:prstGeom prst="homePlate">
              <a:avLst>
                <a:gd fmla="val 40909"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mbria"/>
                  <a:ea typeface="Cambria"/>
                  <a:cs typeface="Cambria"/>
                  <a:sym typeface="Cambria"/>
                </a:rPr>
                <a:t>Use Case diagram for Job Providers</a:t>
              </a:r>
              <a:endParaRPr b="1" i="0" sz="3200" u="none" cap="none" strike="noStrike">
                <a:solidFill>
                  <a:srgbClr val="FFFFFF"/>
                </a:solidFill>
                <a:latin typeface="Cambria"/>
                <a:ea typeface="Cambria"/>
                <a:cs typeface="Cambria"/>
                <a:sym typeface="Cambria"/>
              </a:endParaRPr>
            </a:p>
          </p:txBody>
        </p:sp>
        <p:sp>
          <p:nvSpPr>
            <p:cNvPr id="241" name="Google Shape;241;p11"/>
            <p:cNvSpPr/>
            <p:nvPr/>
          </p:nvSpPr>
          <p:spPr>
            <a:xfrm>
              <a:off x="7053190" y="545888"/>
              <a:ext cx="548640" cy="1005840"/>
            </a:xfrm>
            <a:prstGeom prst="chevron">
              <a:avLst>
                <a:gd fmla="val 74706"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000000"/>
                </a:solidFill>
                <a:latin typeface="Calibri"/>
                <a:ea typeface="Calibri"/>
                <a:cs typeface="Calibri"/>
                <a:sym typeface="Calibri"/>
              </a:endParaRPr>
            </a:p>
          </p:txBody>
        </p:sp>
        <p:sp>
          <p:nvSpPr>
            <p:cNvPr id="242" name="Google Shape;242;p11"/>
            <p:cNvSpPr/>
            <p:nvPr/>
          </p:nvSpPr>
          <p:spPr>
            <a:xfrm>
              <a:off x="6083373" y="545888"/>
              <a:ext cx="914400" cy="1005840"/>
            </a:xfrm>
            <a:prstGeom prst="chevron">
              <a:avLst>
                <a:gd fmla="val 45057"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rebuchet MS"/>
                <a:buNone/>
              </a:pPr>
              <a:r>
                <a:t/>
              </a:r>
              <a:endParaRPr b="0" i="0" sz="1800" u="none" cap="none" strike="noStrike">
                <a:solidFill>
                  <a:srgbClr val="000000"/>
                </a:solidFill>
                <a:latin typeface="Calibri"/>
                <a:ea typeface="Calibri"/>
                <a:cs typeface="Calibri"/>
                <a:sym typeface="Calibri"/>
              </a:endParaRPr>
            </a:p>
          </p:txBody>
        </p:sp>
      </p:grpSp>
      <p:pic>
        <p:nvPicPr>
          <p:cNvPr id="243" name="Google Shape;243;p11"/>
          <p:cNvPicPr preferRelativeResize="0"/>
          <p:nvPr/>
        </p:nvPicPr>
        <p:blipFill rotWithShape="1">
          <a:blip r:embed="rId3">
            <a:alphaModFix/>
          </a:blip>
          <a:srcRect b="13619" l="29790" r="28672" t="14739"/>
          <a:stretch/>
        </p:blipFill>
        <p:spPr>
          <a:xfrm>
            <a:off x="3411940" y="1351128"/>
            <a:ext cx="5404514" cy="52407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grpSp>
        <p:nvGrpSpPr>
          <p:cNvPr id="248" name="Google Shape;248;p12"/>
          <p:cNvGrpSpPr/>
          <p:nvPr/>
        </p:nvGrpSpPr>
        <p:grpSpPr>
          <a:xfrm>
            <a:off x="0" y="303363"/>
            <a:ext cx="6843252" cy="665628"/>
            <a:chOff x="0" y="545888"/>
            <a:chExt cx="7601830" cy="1005840"/>
          </a:xfrm>
        </p:grpSpPr>
        <p:sp>
          <p:nvSpPr>
            <p:cNvPr id="249" name="Google Shape;249;p12"/>
            <p:cNvSpPr/>
            <p:nvPr/>
          </p:nvSpPr>
          <p:spPr>
            <a:xfrm>
              <a:off x="6663477" y="545888"/>
              <a:ext cx="731520" cy="1005840"/>
            </a:xfrm>
            <a:prstGeom prst="chevron">
              <a:avLst>
                <a:gd fmla="val 56731"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50" name="Google Shape;250;p12"/>
            <p:cNvSpPr/>
            <p:nvPr/>
          </p:nvSpPr>
          <p:spPr>
            <a:xfrm>
              <a:off x="0" y="545888"/>
              <a:ext cx="6427177" cy="1005840"/>
            </a:xfrm>
            <a:prstGeom prst="homePlate">
              <a:avLst>
                <a:gd fmla="val 40909"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mbria"/>
                  <a:ea typeface="Cambria"/>
                  <a:cs typeface="Cambria"/>
                  <a:sym typeface="Cambria"/>
                </a:rPr>
                <a:t>Admin Module</a:t>
              </a:r>
              <a:endParaRPr b="1" i="0" sz="3200" u="none" cap="none" strike="noStrike">
                <a:solidFill>
                  <a:srgbClr val="FFFFFF"/>
                </a:solidFill>
                <a:latin typeface="Cambria"/>
                <a:ea typeface="Cambria"/>
                <a:cs typeface="Cambria"/>
                <a:sym typeface="Cambria"/>
              </a:endParaRPr>
            </a:p>
          </p:txBody>
        </p:sp>
        <p:sp>
          <p:nvSpPr>
            <p:cNvPr id="251" name="Google Shape;251;p12"/>
            <p:cNvSpPr/>
            <p:nvPr/>
          </p:nvSpPr>
          <p:spPr>
            <a:xfrm>
              <a:off x="7053190" y="545888"/>
              <a:ext cx="548640" cy="1005840"/>
            </a:xfrm>
            <a:prstGeom prst="chevron">
              <a:avLst>
                <a:gd fmla="val 74706"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52" name="Google Shape;252;p12"/>
            <p:cNvSpPr/>
            <p:nvPr/>
          </p:nvSpPr>
          <p:spPr>
            <a:xfrm>
              <a:off x="6083373" y="545888"/>
              <a:ext cx="914400" cy="1005840"/>
            </a:xfrm>
            <a:prstGeom prst="chevron">
              <a:avLst>
                <a:gd fmla="val 45057"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grpSp>
      <p:sp>
        <p:nvSpPr>
          <p:cNvPr id="253" name="Google Shape;253;p12"/>
          <p:cNvSpPr txBox="1"/>
          <p:nvPr/>
        </p:nvSpPr>
        <p:spPr>
          <a:xfrm>
            <a:off x="943897" y="1685671"/>
            <a:ext cx="11248103" cy="188250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3F3F3F"/>
              </a:buClr>
              <a:buSzPts val="2000"/>
              <a:buFont typeface="Trebuchet MS"/>
              <a:buNone/>
            </a:pPr>
            <a:r>
              <a:rPr b="0" i="0" lang="en-US" sz="2000" u="none" cap="none" strike="noStrike">
                <a:solidFill>
                  <a:srgbClr val="3F3F3F"/>
                </a:solidFill>
                <a:latin typeface="Trebuchet MS"/>
                <a:ea typeface="Trebuchet MS"/>
                <a:cs typeface="Trebuchet MS"/>
                <a:sym typeface="Trebuchet MS"/>
              </a:rPr>
              <a:t>The Admin can </a:t>
            </a:r>
            <a:endParaRPr b="0" i="0" sz="2000" u="none" cap="none" strike="noStrike">
              <a:solidFill>
                <a:srgbClr val="3F3F3F"/>
              </a:solidFill>
              <a:latin typeface="Trebuchet MS"/>
              <a:ea typeface="Trebuchet MS"/>
              <a:cs typeface="Trebuchet MS"/>
              <a:sym typeface="Trebuchet MS"/>
            </a:endParaRPr>
          </a:p>
          <a:p>
            <a:pPr indent="-127000" lvl="1" marL="457200" marR="0" rtl="0" algn="just">
              <a:lnSpc>
                <a:spcPct val="150000"/>
              </a:lnSpc>
              <a:spcBef>
                <a:spcPts val="0"/>
              </a:spcBef>
              <a:spcAft>
                <a:spcPts val="0"/>
              </a:spcAft>
              <a:buClr>
                <a:srgbClr val="3F3F3F"/>
              </a:buClr>
              <a:buSzPts val="2000"/>
              <a:buFont typeface="Arial"/>
              <a:buChar char="•"/>
            </a:pPr>
            <a:r>
              <a:rPr b="0" i="0" lang="en-US" sz="2000" u="none" cap="none" strike="noStrike">
                <a:solidFill>
                  <a:srgbClr val="3F3F3F"/>
                </a:solidFill>
                <a:latin typeface="Trebuchet MS"/>
                <a:ea typeface="Trebuchet MS"/>
                <a:cs typeface="Trebuchet MS"/>
                <a:sym typeface="Trebuchet MS"/>
              </a:rPr>
              <a:t> Approve or disapprove the job providers.</a:t>
            </a:r>
            <a:endParaRPr b="0" i="0" sz="2000" u="none" cap="none" strike="noStrike">
              <a:solidFill>
                <a:srgbClr val="3F3F3F"/>
              </a:solidFill>
              <a:latin typeface="Trebuchet MS"/>
              <a:ea typeface="Trebuchet MS"/>
              <a:cs typeface="Trebuchet MS"/>
              <a:sym typeface="Trebuchet MS"/>
            </a:endParaRPr>
          </a:p>
          <a:p>
            <a:pPr indent="-127000" lvl="1" marL="457200" marR="0" rtl="0" algn="just">
              <a:lnSpc>
                <a:spcPct val="150000"/>
              </a:lnSpc>
              <a:spcBef>
                <a:spcPts val="0"/>
              </a:spcBef>
              <a:spcAft>
                <a:spcPts val="0"/>
              </a:spcAft>
              <a:buClr>
                <a:srgbClr val="3F3F3F"/>
              </a:buClr>
              <a:buSzPts val="2000"/>
              <a:buFont typeface="Arial"/>
              <a:buChar char="•"/>
            </a:pPr>
            <a:r>
              <a:rPr b="0" i="0" lang="en-US" sz="2000" u="none" cap="none" strike="noStrike">
                <a:solidFill>
                  <a:srgbClr val="3F3F3F"/>
                </a:solidFill>
                <a:latin typeface="Trebuchet MS"/>
                <a:ea typeface="Trebuchet MS"/>
                <a:cs typeface="Trebuchet MS"/>
                <a:sym typeface="Trebuchet MS"/>
              </a:rPr>
              <a:t> He /she can see applicant details , </a:t>
            </a:r>
            <a:endParaRPr b="0" i="0" sz="2000" u="none" cap="none" strike="noStrike">
              <a:solidFill>
                <a:srgbClr val="3F3F3F"/>
              </a:solidFill>
              <a:latin typeface="Trebuchet MS"/>
              <a:ea typeface="Trebuchet MS"/>
              <a:cs typeface="Trebuchet MS"/>
              <a:sym typeface="Trebuchet MS"/>
            </a:endParaRPr>
          </a:p>
          <a:p>
            <a:pPr indent="-127000" lvl="1" marL="457200" marR="0" rtl="0" algn="just">
              <a:lnSpc>
                <a:spcPct val="150000"/>
              </a:lnSpc>
              <a:spcBef>
                <a:spcPts val="0"/>
              </a:spcBef>
              <a:spcAft>
                <a:spcPts val="0"/>
              </a:spcAft>
              <a:buClr>
                <a:srgbClr val="3F3F3F"/>
              </a:buClr>
              <a:buSzPts val="2000"/>
              <a:buFont typeface="Arial"/>
              <a:buChar char="•"/>
            </a:pPr>
            <a:r>
              <a:rPr b="0" i="0" lang="en-US" sz="2000" u="none" cap="none" strike="noStrike">
                <a:solidFill>
                  <a:srgbClr val="3F3F3F"/>
                </a:solidFill>
                <a:latin typeface="Trebuchet MS"/>
                <a:ea typeface="Trebuchet MS"/>
                <a:cs typeface="Trebuchet MS"/>
                <a:sym typeface="Trebuchet MS"/>
              </a:rPr>
              <a:t> Manage account and delete job providers account.</a:t>
            </a:r>
            <a:endParaRPr b="0" i="0" sz="2000" u="none" cap="none" strike="noStrike">
              <a:solidFill>
                <a:srgbClr val="3F3F3F"/>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grpSp>
        <p:nvGrpSpPr>
          <p:cNvPr id="258" name="Google Shape;258;p13"/>
          <p:cNvGrpSpPr/>
          <p:nvPr/>
        </p:nvGrpSpPr>
        <p:grpSpPr>
          <a:xfrm>
            <a:off x="0" y="204921"/>
            <a:ext cx="7634514" cy="941708"/>
            <a:chOff x="0" y="545888"/>
            <a:chExt cx="7601830" cy="1005840"/>
          </a:xfrm>
        </p:grpSpPr>
        <p:sp>
          <p:nvSpPr>
            <p:cNvPr id="259" name="Google Shape;259;p13"/>
            <p:cNvSpPr/>
            <p:nvPr/>
          </p:nvSpPr>
          <p:spPr>
            <a:xfrm>
              <a:off x="6663477" y="545888"/>
              <a:ext cx="731520" cy="1005840"/>
            </a:xfrm>
            <a:prstGeom prst="chevron">
              <a:avLst>
                <a:gd fmla="val 56731"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60" name="Google Shape;260;p13"/>
            <p:cNvSpPr/>
            <p:nvPr/>
          </p:nvSpPr>
          <p:spPr>
            <a:xfrm>
              <a:off x="0" y="545888"/>
              <a:ext cx="6427177" cy="1005840"/>
            </a:xfrm>
            <a:prstGeom prst="homePlate">
              <a:avLst>
                <a:gd fmla="val 40909"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3200" u="none" cap="none" strike="noStrike">
                  <a:solidFill>
                    <a:srgbClr val="FFFFFF"/>
                  </a:solidFill>
                  <a:latin typeface="Cambria"/>
                  <a:ea typeface="Cambria"/>
                  <a:cs typeface="Cambria"/>
                  <a:sym typeface="Cambria"/>
                </a:rPr>
                <a:t>Use Case diagram for Admin</a:t>
              </a:r>
              <a:endParaRPr b="1" i="0" sz="3200" u="none" cap="none" strike="noStrike">
                <a:solidFill>
                  <a:srgbClr val="FFFFFF"/>
                </a:solidFill>
                <a:latin typeface="Cambria"/>
                <a:ea typeface="Cambria"/>
                <a:cs typeface="Cambria"/>
                <a:sym typeface="Cambria"/>
              </a:endParaRPr>
            </a:p>
          </p:txBody>
        </p:sp>
        <p:sp>
          <p:nvSpPr>
            <p:cNvPr id="261" name="Google Shape;261;p13"/>
            <p:cNvSpPr/>
            <p:nvPr/>
          </p:nvSpPr>
          <p:spPr>
            <a:xfrm>
              <a:off x="7053190" y="545888"/>
              <a:ext cx="548640" cy="1005840"/>
            </a:xfrm>
            <a:prstGeom prst="chevron">
              <a:avLst>
                <a:gd fmla="val 74706"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sp>
          <p:nvSpPr>
            <p:cNvPr id="262" name="Google Shape;262;p13"/>
            <p:cNvSpPr/>
            <p:nvPr/>
          </p:nvSpPr>
          <p:spPr>
            <a:xfrm>
              <a:off x="6083373" y="545888"/>
              <a:ext cx="914400" cy="1005840"/>
            </a:xfrm>
            <a:prstGeom prst="chevron">
              <a:avLst>
                <a:gd fmla="val 45057" name="adj"/>
              </a:avLst>
            </a:prstGeom>
            <a:gradFill>
              <a:gsLst>
                <a:gs pos="0">
                  <a:srgbClr val="BDD5B6"/>
                </a:gs>
                <a:gs pos="88000">
                  <a:srgbClr val="74AC5E"/>
                </a:gs>
                <a:gs pos="100000">
                  <a:srgbClr val="74AC5E"/>
                </a:gs>
              </a:gsLst>
              <a:lin ang="5400000" scaled="0"/>
            </a:gradFill>
            <a:ln cap="rnd"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200" u="none" cap="none" strike="noStrike">
                <a:solidFill>
                  <a:srgbClr val="FFFFFF"/>
                </a:solidFill>
                <a:latin typeface="Cambria"/>
                <a:ea typeface="Cambria"/>
                <a:cs typeface="Cambria"/>
                <a:sym typeface="Cambria"/>
              </a:endParaRPr>
            </a:p>
          </p:txBody>
        </p:sp>
      </p:grpSp>
      <p:pic>
        <p:nvPicPr>
          <p:cNvPr id="263" name="Google Shape;263;p13"/>
          <p:cNvPicPr preferRelativeResize="0"/>
          <p:nvPr/>
        </p:nvPicPr>
        <p:blipFill rotWithShape="1">
          <a:blip r:embed="rId3">
            <a:alphaModFix/>
          </a:blip>
          <a:srcRect b="12312" l="7028" r="54267" t="17537"/>
          <a:stretch/>
        </p:blipFill>
        <p:spPr>
          <a:xfrm>
            <a:off x="3029803" y="1337481"/>
            <a:ext cx="5036024" cy="513155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4"/>
          <p:cNvSpPr txBox="1"/>
          <p:nvPr>
            <p:ph type="title"/>
          </p:nvPr>
        </p:nvSpPr>
        <p:spPr>
          <a:xfrm>
            <a:off x="677334" y="609600"/>
            <a:ext cx="8596668" cy="1003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u="sng"/>
              <a:t>Future extensions or scope :-</a:t>
            </a:r>
            <a:endParaRPr/>
          </a:p>
        </p:txBody>
      </p:sp>
      <p:sp>
        <p:nvSpPr>
          <p:cNvPr id="269" name="Google Shape;269;p14"/>
          <p:cNvSpPr txBox="1"/>
          <p:nvPr>
            <p:ph idx="1" type="body"/>
          </p:nvPr>
        </p:nvSpPr>
        <p:spPr>
          <a:xfrm>
            <a:off x="677334" y="1612901"/>
            <a:ext cx="8596668" cy="367029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sz="2000"/>
              <a:t>AI-Powered Recommendations:</a:t>
            </a:r>
            <a:endParaRPr sz="2000"/>
          </a:p>
          <a:p>
            <a:pPr indent="-285750" lvl="1" marL="742950" rtl="0" algn="l">
              <a:spcBef>
                <a:spcPts val="1000"/>
              </a:spcBef>
              <a:spcAft>
                <a:spcPts val="0"/>
              </a:spcAft>
              <a:buSzPts val="1440"/>
              <a:buChar char="►"/>
            </a:pPr>
            <a:r>
              <a:rPr lang="en-US" sz="1800"/>
              <a:t>Personalized job suggestions for seekers and employers.</a:t>
            </a:r>
            <a:endParaRPr sz="1800"/>
          </a:p>
          <a:p>
            <a:pPr indent="-342900" lvl="0" marL="342900" rtl="0" algn="l">
              <a:spcBef>
                <a:spcPts val="1000"/>
              </a:spcBef>
              <a:spcAft>
                <a:spcPts val="0"/>
              </a:spcAft>
              <a:buSzPts val="1600"/>
              <a:buChar char="►"/>
            </a:pPr>
            <a:r>
              <a:rPr b="1" lang="en-US" sz="2000"/>
              <a:t>Remote Work Focus:</a:t>
            </a:r>
            <a:endParaRPr sz="2000"/>
          </a:p>
          <a:p>
            <a:pPr indent="-285750" lvl="1" marL="742950" rtl="0" algn="l">
              <a:spcBef>
                <a:spcPts val="1000"/>
              </a:spcBef>
              <a:spcAft>
                <a:spcPts val="0"/>
              </a:spcAft>
              <a:buSzPts val="1440"/>
              <a:buChar char="►"/>
            </a:pPr>
            <a:r>
              <a:rPr lang="en-US" sz="1800"/>
              <a:t>Highlight remote and flexible opportunities.</a:t>
            </a:r>
            <a:endParaRPr sz="1800"/>
          </a:p>
          <a:p>
            <a:pPr indent="-342900" lvl="0" marL="342900" rtl="0" algn="l">
              <a:spcBef>
                <a:spcPts val="1000"/>
              </a:spcBef>
              <a:spcAft>
                <a:spcPts val="0"/>
              </a:spcAft>
              <a:buSzPts val="1600"/>
              <a:buChar char="►"/>
            </a:pPr>
            <a:r>
              <a:rPr b="1" lang="en-US" sz="2000"/>
              <a:t>Skill Assessment:</a:t>
            </a:r>
            <a:endParaRPr sz="2000"/>
          </a:p>
          <a:p>
            <a:pPr indent="-285750" lvl="1" marL="742950" rtl="0" algn="l">
              <a:spcBef>
                <a:spcPts val="1000"/>
              </a:spcBef>
              <a:spcAft>
                <a:spcPts val="0"/>
              </a:spcAft>
              <a:buSzPts val="1440"/>
              <a:buChar char="►"/>
            </a:pPr>
            <a:r>
              <a:rPr lang="en-US" sz="1800"/>
              <a:t>Skill tests to showcase abilities on profiles.</a:t>
            </a:r>
            <a:endParaRPr sz="1800"/>
          </a:p>
          <a:p>
            <a:pPr indent="-342900" lvl="0" marL="342900" rtl="0" algn="l">
              <a:spcBef>
                <a:spcPts val="1000"/>
              </a:spcBef>
              <a:spcAft>
                <a:spcPts val="0"/>
              </a:spcAft>
              <a:buSzPts val="1600"/>
              <a:buChar char="►"/>
            </a:pPr>
            <a:r>
              <a:rPr b="1" lang="en-US" sz="2000"/>
              <a:t>Mobile App Development:</a:t>
            </a:r>
            <a:endParaRPr sz="2000"/>
          </a:p>
          <a:p>
            <a:pPr indent="-285750" lvl="1" marL="742950" rtl="0" algn="l">
              <a:spcBef>
                <a:spcPts val="1000"/>
              </a:spcBef>
              <a:spcAft>
                <a:spcPts val="0"/>
              </a:spcAft>
              <a:buSzPts val="1440"/>
              <a:buChar char="►"/>
            </a:pPr>
            <a:r>
              <a:rPr lang="en-US" sz="1800"/>
              <a:t>Access via smartphones with a mobile app</a:t>
            </a:r>
            <a:r>
              <a:rPr lang="en-US" sz="2000"/>
              <a:t>.</a:t>
            </a:r>
            <a:endParaRPr sz="2000"/>
          </a:p>
          <a:p>
            <a:pPr indent="-251459" lvl="0" marL="342900" rtl="0" algn="l">
              <a:spcBef>
                <a:spcPts val="1000"/>
              </a:spcBef>
              <a:spcAft>
                <a:spcPts val="0"/>
              </a:spcAft>
              <a:buSzPts val="1440"/>
              <a:buNone/>
            </a:pPr>
            <a:r>
              <a:t/>
            </a:r>
            <a:endParaRPr/>
          </a:p>
        </p:txBody>
      </p:sp>
      <p:pic>
        <p:nvPicPr>
          <p:cNvPr descr="Job Portal Images - Free Download on Freepik" id="270" name="Google Shape;270;p14"/>
          <p:cNvPicPr preferRelativeResize="0"/>
          <p:nvPr/>
        </p:nvPicPr>
        <p:blipFill rotWithShape="1">
          <a:blip r:embed="rId3">
            <a:alphaModFix/>
          </a:blip>
          <a:srcRect b="0" l="0" r="0" t="0"/>
          <a:stretch/>
        </p:blipFill>
        <p:spPr>
          <a:xfrm>
            <a:off x="444499" y="5045075"/>
            <a:ext cx="3492501" cy="1812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u="sng"/>
              <a:t>Front Login view</a:t>
            </a:r>
            <a:endParaRPr u="sng"/>
          </a:p>
        </p:txBody>
      </p:sp>
      <p:pic>
        <p:nvPicPr>
          <p:cNvPr id="276" name="Google Shape;276;p15"/>
          <p:cNvPicPr preferRelativeResize="0"/>
          <p:nvPr>
            <p:ph idx="1" type="body"/>
          </p:nvPr>
        </p:nvPicPr>
        <p:blipFill rotWithShape="1">
          <a:blip r:embed="rId3">
            <a:alphaModFix/>
          </a:blip>
          <a:srcRect b="0" l="0" r="0" t="0"/>
          <a:stretch/>
        </p:blipFill>
        <p:spPr>
          <a:xfrm>
            <a:off x="779871" y="2024744"/>
            <a:ext cx="8392296" cy="401728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JobSeeker Registration</a:t>
            </a:r>
            <a:endParaRPr/>
          </a:p>
        </p:txBody>
      </p:sp>
      <p:pic>
        <p:nvPicPr>
          <p:cNvPr id="282" name="Google Shape;282;p16"/>
          <p:cNvPicPr preferRelativeResize="0"/>
          <p:nvPr>
            <p:ph idx="1" type="body"/>
          </p:nvPr>
        </p:nvPicPr>
        <p:blipFill rotWithShape="1">
          <a:blip r:embed="rId3">
            <a:alphaModFix/>
          </a:blip>
          <a:srcRect b="0" l="0" r="0" t="0"/>
          <a:stretch/>
        </p:blipFill>
        <p:spPr>
          <a:xfrm>
            <a:off x="807987" y="2160588"/>
            <a:ext cx="8336063" cy="38814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Employer Registration</a:t>
            </a:r>
            <a:endParaRPr/>
          </a:p>
        </p:txBody>
      </p:sp>
      <p:pic>
        <p:nvPicPr>
          <p:cNvPr id="288" name="Google Shape;288;p17"/>
          <p:cNvPicPr preferRelativeResize="0"/>
          <p:nvPr>
            <p:ph idx="1" type="body"/>
          </p:nvPr>
        </p:nvPicPr>
        <p:blipFill rotWithShape="1">
          <a:blip r:embed="rId3">
            <a:alphaModFix/>
          </a:blip>
          <a:srcRect b="0" l="0" r="0" t="0"/>
          <a:stretch/>
        </p:blipFill>
        <p:spPr>
          <a:xfrm>
            <a:off x="1082350" y="2236788"/>
            <a:ext cx="8191800" cy="3881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Job List View</a:t>
            </a:r>
            <a:endParaRPr/>
          </a:p>
        </p:txBody>
      </p:sp>
      <p:pic>
        <p:nvPicPr>
          <p:cNvPr id="294" name="Google Shape;294;p18"/>
          <p:cNvPicPr preferRelativeResize="0"/>
          <p:nvPr>
            <p:ph idx="1" type="body"/>
          </p:nvPr>
        </p:nvPicPr>
        <p:blipFill rotWithShape="1">
          <a:blip r:embed="rId3">
            <a:alphaModFix/>
          </a:blip>
          <a:srcRect b="0" l="0" r="0" t="0"/>
          <a:stretch/>
        </p:blipFill>
        <p:spPr>
          <a:xfrm>
            <a:off x="1073020" y="2160588"/>
            <a:ext cx="8200982" cy="38814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Jobseeker Profile</a:t>
            </a:r>
            <a:endParaRPr/>
          </a:p>
        </p:txBody>
      </p:sp>
      <p:pic>
        <p:nvPicPr>
          <p:cNvPr id="300" name="Google Shape;300;p19"/>
          <p:cNvPicPr preferRelativeResize="0"/>
          <p:nvPr>
            <p:ph idx="1" type="body"/>
          </p:nvPr>
        </p:nvPicPr>
        <p:blipFill rotWithShape="1">
          <a:blip r:embed="rId3">
            <a:alphaModFix/>
          </a:blip>
          <a:srcRect b="0" l="0" r="0" t="0"/>
          <a:stretch/>
        </p:blipFill>
        <p:spPr>
          <a:xfrm>
            <a:off x="867773" y="2160588"/>
            <a:ext cx="8216492" cy="38814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Recruiter view page</a:t>
            </a:r>
            <a:endParaRPr/>
          </a:p>
        </p:txBody>
      </p:sp>
      <p:pic>
        <p:nvPicPr>
          <p:cNvPr id="306" name="Google Shape;306;p20"/>
          <p:cNvPicPr preferRelativeResize="0"/>
          <p:nvPr>
            <p:ph idx="1" type="body"/>
          </p:nvPr>
        </p:nvPicPr>
        <p:blipFill rotWithShape="1">
          <a:blip r:embed="rId3">
            <a:alphaModFix/>
          </a:blip>
          <a:srcRect b="0" l="0" r="0" t="0"/>
          <a:stretch/>
        </p:blipFill>
        <p:spPr>
          <a:xfrm>
            <a:off x="1114098" y="2160588"/>
            <a:ext cx="7723842" cy="388143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Job Posting view</a:t>
            </a:r>
            <a:endParaRPr/>
          </a:p>
        </p:txBody>
      </p:sp>
      <p:pic>
        <p:nvPicPr>
          <p:cNvPr id="312" name="Google Shape;312;p21"/>
          <p:cNvPicPr preferRelativeResize="0"/>
          <p:nvPr>
            <p:ph idx="1" type="body"/>
          </p:nvPr>
        </p:nvPicPr>
        <p:blipFill rotWithShape="1">
          <a:blip r:embed="rId3">
            <a:alphaModFix/>
          </a:blip>
          <a:srcRect b="0" l="0" r="0" t="0"/>
          <a:stretch/>
        </p:blipFill>
        <p:spPr>
          <a:xfrm>
            <a:off x="1464905" y="2160588"/>
            <a:ext cx="7539135" cy="427753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Recruiter profile</a:t>
            </a:r>
            <a:endParaRPr/>
          </a:p>
        </p:txBody>
      </p:sp>
      <p:pic>
        <p:nvPicPr>
          <p:cNvPr id="318" name="Google Shape;318;p22"/>
          <p:cNvPicPr preferRelativeResize="0"/>
          <p:nvPr>
            <p:ph idx="1" type="body"/>
          </p:nvPr>
        </p:nvPicPr>
        <p:blipFill rotWithShape="1">
          <a:blip r:embed="rId3">
            <a:alphaModFix/>
          </a:blip>
          <a:srcRect b="0" l="0" r="0" t="0"/>
          <a:stretch/>
        </p:blipFill>
        <p:spPr>
          <a:xfrm>
            <a:off x="821094" y="2160588"/>
            <a:ext cx="7883513" cy="38814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Admin profile</a:t>
            </a:r>
            <a:endParaRPr/>
          </a:p>
        </p:txBody>
      </p:sp>
      <p:pic>
        <p:nvPicPr>
          <p:cNvPr id="324" name="Google Shape;324;p23"/>
          <p:cNvPicPr preferRelativeResize="0"/>
          <p:nvPr>
            <p:ph idx="1" type="body"/>
          </p:nvPr>
        </p:nvPicPr>
        <p:blipFill rotWithShape="1">
          <a:blip r:embed="rId3">
            <a:alphaModFix/>
          </a:blip>
          <a:srcRect b="0" l="0" r="0" t="0"/>
          <a:stretch/>
        </p:blipFill>
        <p:spPr>
          <a:xfrm>
            <a:off x="812690" y="2160588"/>
            <a:ext cx="8326658" cy="38814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Admin Recruiter List</a:t>
            </a:r>
            <a:endParaRPr/>
          </a:p>
        </p:txBody>
      </p:sp>
      <p:pic>
        <p:nvPicPr>
          <p:cNvPr id="330" name="Google Shape;330;p24"/>
          <p:cNvPicPr preferRelativeResize="0"/>
          <p:nvPr>
            <p:ph idx="1" type="body"/>
          </p:nvPr>
        </p:nvPicPr>
        <p:blipFill rotWithShape="1">
          <a:blip r:embed="rId3">
            <a:alphaModFix/>
          </a:blip>
          <a:srcRect b="0" l="0" r="0" t="0"/>
          <a:stretch/>
        </p:blipFill>
        <p:spPr>
          <a:xfrm>
            <a:off x="677863" y="2252178"/>
            <a:ext cx="8596312" cy="369825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Admin Jobseeker List</a:t>
            </a:r>
            <a:endParaRPr/>
          </a:p>
        </p:txBody>
      </p:sp>
      <p:pic>
        <p:nvPicPr>
          <p:cNvPr id="336" name="Google Shape;336;p25"/>
          <p:cNvPicPr preferRelativeResize="0"/>
          <p:nvPr>
            <p:ph idx="1" type="body"/>
          </p:nvPr>
        </p:nvPicPr>
        <p:blipFill rotWithShape="1">
          <a:blip r:embed="rId3">
            <a:alphaModFix/>
          </a:blip>
          <a:srcRect b="0" l="0" r="0" t="0"/>
          <a:stretch/>
        </p:blipFill>
        <p:spPr>
          <a:xfrm>
            <a:off x="697510" y="2160588"/>
            <a:ext cx="8557018" cy="388143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677334" y="609600"/>
            <a:ext cx="8596668" cy="9525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u="sng"/>
              <a:t>Conclusion :-</a:t>
            </a:r>
            <a:endParaRPr/>
          </a:p>
        </p:txBody>
      </p:sp>
      <p:sp>
        <p:nvSpPr>
          <p:cNvPr id="342" name="Google Shape;342;p26"/>
          <p:cNvSpPr txBox="1"/>
          <p:nvPr>
            <p:ph idx="1" type="body"/>
          </p:nvPr>
        </p:nvSpPr>
        <p:spPr>
          <a:xfrm>
            <a:off x="677334" y="1739901"/>
            <a:ext cx="8596668" cy="2527299"/>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SzPts val="1600"/>
              <a:buChar char="►"/>
            </a:pPr>
            <a:r>
              <a:rPr lang="en-US" sz="2000"/>
              <a:t>The Online Job Portal is a powerful tool for modern job seekers and employers. By streamlining searches, improving access, and adapting to evolving work trends, it's a catalyst for career growth. Embracing the future of work, this portal is a gateway to efficiency and opportunity in the job market.</a:t>
            </a:r>
            <a:endParaRPr sz="2000"/>
          </a:p>
        </p:txBody>
      </p:sp>
      <p:pic>
        <p:nvPicPr>
          <p:cNvPr descr="Employer meeting job applicant at pre-employment assessment. Employee evaluation, assessment form and report, performance review concept, flat vector modern illustration Employer meeting job applicant at pre-employment assessment. Employee evaluation, assessment form and report, performance review concept, flat vector modern illustration job search background stock illustrations" id="343" name="Google Shape;343;p26"/>
          <p:cNvPicPr preferRelativeResize="0"/>
          <p:nvPr/>
        </p:nvPicPr>
        <p:blipFill rotWithShape="1">
          <a:blip r:embed="rId3">
            <a:alphaModFix/>
          </a:blip>
          <a:srcRect b="0" l="0" r="0" t="0"/>
          <a:stretch/>
        </p:blipFill>
        <p:spPr>
          <a:xfrm>
            <a:off x="508000" y="4000500"/>
            <a:ext cx="5140325" cy="2857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7"/>
          <p:cNvSpPr txBox="1"/>
          <p:nvPr>
            <p:ph type="title"/>
          </p:nvPr>
        </p:nvSpPr>
        <p:spPr>
          <a:xfrm>
            <a:off x="677335" y="1222311"/>
            <a:ext cx="8596668" cy="2015411"/>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accent1"/>
              </a:buClr>
              <a:buSzPts val="6000"/>
              <a:buFont typeface="Arial"/>
              <a:buNone/>
            </a:pPr>
            <a:r>
              <a:rPr b="1" lang="en-US" sz="6000" u="sng">
                <a:latin typeface="Arial"/>
                <a:ea typeface="Arial"/>
                <a:cs typeface="Arial"/>
                <a:sym typeface="Arial"/>
              </a:rPr>
              <a:t>Thank You</a:t>
            </a:r>
            <a:endParaRPr b="1" sz="6000" u="sng">
              <a:latin typeface="Arial"/>
              <a:ea typeface="Arial"/>
              <a:cs typeface="Arial"/>
              <a:sym typeface="Arial"/>
            </a:endParaRPr>
          </a:p>
        </p:txBody>
      </p:sp>
      <p:sp>
        <p:nvSpPr>
          <p:cNvPr id="349" name="Google Shape;349;p27"/>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2023-08-28T10:50:00Z</dcterms:created>
  <dc:creator>Admin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839FF3D9532945A8A161CCDF707CBB7D_12</vt:lpwstr>
  </property>
  <property fmtid="{D5CDD505-2E9C-101B-9397-08002B2CF9AE}" pid="3" name="KSOProductBuildVer">
    <vt:lpwstr>1033-12.2.0.13472</vt:lpwstr>
  </property>
</Properties>
</file>